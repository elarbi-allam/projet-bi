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4660"/>
  </p:normalViewPr>
  <p:slideViewPr>
    <p:cSldViewPr>
      <p:cViewPr>
        <p:scale>
          <a:sx n="50" d="100"/>
          <a:sy n="50" d="100"/>
        </p:scale>
        <p:origin x="1118" y="2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50" b="0" i="0">
                <a:solidFill>
                  <a:srgbClr val="034F9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1F1F1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034F9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1F1F1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034F9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034F9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7310" y="69849"/>
            <a:ext cx="15572545" cy="13917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50" b="0" i="0">
                <a:solidFill>
                  <a:srgbClr val="034F9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76493" y="2154061"/>
            <a:ext cx="13013055" cy="6666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1F1F1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0"/>
            <a:ext cx="139700" cy="97536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17460" y="2334329"/>
            <a:ext cx="14442440" cy="24809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33985" algn="ctr">
              <a:lnSpc>
                <a:spcPts val="9585"/>
              </a:lnSpc>
              <a:spcBef>
                <a:spcPts val="135"/>
              </a:spcBef>
            </a:pPr>
            <a:r>
              <a:rPr sz="8850" spc="-335" dirty="0">
                <a:solidFill>
                  <a:srgbClr val="033160"/>
                </a:solidFill>
                <a:latin typeface="Trebuchet MS"/>
                <a:cs typeface="Trebuchet MS"/>
              </a:rPr>
              <a:t>Système</a:t>
            </a:r>
            <a:r>
              <a:rPr sz="8850" spc="-170" dirty="0">
                <a:solidFill>
                  <a:srgbClr val="033160"/>
                </a:solidFill>
                <a:latin typeface="Trebuchet MS"/>
                <a:cs typeface="Trebuchet MS"/>
              </a:rPr>
              <a:t> </a:t>
            </a:r>
            <a:r>
              <a:rPr sz="8850" spc="-395" dirty="0">
                <a:solidFill>
                  <a:srgbClr val="033667"/>
                </a:solidFill>
                <a:latin typeface="Trebuchet MS"/>
                <a:cs typeface="Trebuchet MS"/>
              </a:rPr>
              <a:t>de</a:t>
            </a:r>
            <a:r>
              <a:rPr sz="8850" spc="-695" dirty="0">
                <a:solidFill>
                  <a:srgbClr val="033667"/>
                </a:solidFill>
                <a:latin typeface="Trebuchet MS"/>
                <a:cs typeface="Trebuchet MS"/>
              </a:rPr>
              <a:t> </a:t>
            </a:r>
            <a:r>
              <a:rPr sz="8850" spc="-10" dirty="0">
                <a:solidFill>
                  <a:srgbClr val="033162"/>
                </a:solidFill>
                <a:latin typeface="Trebuchet MS"/>
                <a:cs typeface="Trebuchet MS"/>
              </a:rPr>
              <a:t>Busïness</a:t>
            </a:r>
            <a:endParaRPr sz="8850" dirty="0">
              <a:latin typeface="Trebuchet MS"/>
              <a:cs typeface="Trebuchet MS"/>
            </a:endParaRPr>
          </a:p>
          <a:p>
            <a:pPr algn="ctr">
              <a:lnSpc>
                <a:spcPts val="9705"/>
              </a:lnSpc>
              <a:tabLst>
                <a:tab pos="9277985" algn="l"/>
              </a:tabLst>
            </a:pPr>
            <a:r>
              <a:rPr sz="8950" spc="-409" dirty="0">
                <a:solidFill>
                  <a:srgbClr val="033867"/>
                </a:solidFill>
                <a:latin typeface="Trebuchet MS"/>
                <a:cs typeface="Trebuchet MS"/>
              </a:rPr>
              <a:t>Intelligence</a:t>
            </a:r>
            <a:r>
              <a:rPr lang="en-US" sz="8950" spc="-409" dirty="0">
                <a:solidFill>
                  <a:srgbClr val="033867"/>
                </a:solidFill>
                <a:latin typeface="Trebuchet MS"/>
                <a:cs typeface="Trebuchet MS"/>
              </a:rPr>
              <a:t> pour la </a:t>
            </a:r>
            <a:r>
              <a:rPr sz="8950" spc="-395" dirty="0">
                <a:solidFill>
                  <a:srgbClr val="033669"/>
                </a:solidFill>
                <a:latin typeface="Trebuchet MS"/>
                <a:cs typeface="Trebuchet MS"/>
              </a:rPr>
              <a:t>Gestion</a:t>
            </a:r>
            <a:r>
              <a:rPr sz="8950" spc="-280" dirty="0">
                <a:solidFill>
                  <a:srgbClr val="033669"/>
                </a:solidFill>
                <a:latin typeface="Trebuchet MS"/>
                <a:cs typeface="Trebuchet MS"/>
              </a:rPr>
              <a:t> </a:t>
            </a:r>
            <a:r>
              <a:rPr sz="8950" spc="-365" dirty="0">
                <a:solidFill>
                  <a:srgbClr val="053A6B"/>
                </a:solidFill>
                <a:latin typeface="Trebuchet MS"/>
                <a:cs typeface="Trebuchet MS"/>
              </a:rPr>
              <a:t>RH</a:t>
            </a:r>
            <a:endParaRPr sz="895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17460" y="5003094"/>
            <a:ext cx="14053185" cy="3851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4355">
              <a:lnSpc>
                <a:spcPct val="100000"/>
              </a:lnSpc>
              <a:spcBef>
                <a:spcPts val="105"/>
              </a:spcBef>
            </a:pPr>
            <a:r>
              <a:rPr sz="4300" spc="-135" dirty="0">
                <a:solidFill>
                  <a:srgbClr val="055491"/>
                </a:solidFill>
                <a:latin typeface="Trebuchet MS"/>
                <a:cs typeface="Trebuchet MS"/>
              </a:rPr>
              <a:t>Analyse</a:t>
            </a:r>
            <a:r>
              <a:rPr sz="4300" spc="-114" dirty="0">
                <a:solidFill>
                  <a:srgbClr val="055491"/>
                </a:solidFill>
                <a:latin typeface="Trebuchet MS"/>
                <a:cs typeface="Trebuchet MS"/>
              </a:rPr>
              <a:t> </a:t>
            </a:r>
            <a:r>
              <a:rPr sz="4300" spc="-265" dirty="0">
                <a:solidFill>
                  <a:srgbClr val="07548C"/>
                </a:solidFill>
                <a:latin typeface="Trebuchet MS"/>
                <a:cs typeface="Trebuchet MS"/>
              </a:rPr>
              <a:t>de</a:t>
            </a:r>
            <a:r>
              <a:rPr sz="4300" spc="-325" dirty="0">
                <a:solidFill>
                  <a:srgbClr val="07548C"/>
                </a:solidFill>
                <a:latin typeface="Trebuchet MS"/>
                <a:cs typeface="Trebuchet MS"/>
              </a:rPr>
              <a:t> </a:t>
            </a:r>
            <a:r>
              <a:rPr sz="4300" spc="-240" dirty="0">
                <a:solidFill>
                  <a:srgbClr val="0F568E"/>
                </a:solidFill>
                <a:latin typeface="Trebuchet MS"/>
                <a:cs typeface="Trebuchet MS"/>
              </a:rPr>
              <a:t>la </a:t>
            </a:r>
            <a:r>
              <a:rPr sz="4300" spc="-170" dirty="0">
                <a:solidFill>
                  <a:srgbClr val="0C548C"/>
                </a:solidFill>
                <a:latin typeface="Trebuchet MS"/>
                <a:cs typeface="Trebuchet MS"/>
              </a:rPr>
              <a:t>performance</a:t>
            </a:r>
            <a:r>
              <a:rPr sz="4300" spc="60" dirty="0">
                <a:solidFill>
                  <a:srgbClr val="0C548C"/>
                </a:solidFill>
                <a:latin typeface="Trebuchet MS"/>
                <a:cs typeface="Trebuchet MS"/>
              </a:rPr>
              <a:t> </a:t>
            </a:r>
            <a:r>
              <a:rPr sz="4300" spc="-130" dirty="0">
                <a:solidFill>
                  <a:srgbClr val="085289"/>
                </a:solidFill>
                <a:latin typeface="Trebuchet MS"/>
                <a:cs typeface="Trebuchet MS"/>
              </a:rPr>
              <a:t>organisationnelle</a:t>
            </a:r>
            <a:r>
              <a:rPr sz="4300" spc="-459" dirty="0">
                <a:solidFill>
                  <a:srgbClr val="085289"/>
                </a:solidFill>
                <a:latin typeface="Trebuchet MS"/>
                <a:cs typeface="Trebuchet MS"/>
              </a:rPr>
              <a:t> </a:t>
            </a:r>
            <a:r>
              <a:rPr sz="4300" spc="-270" dirty="0">
                <a:solidFill>
                  <a:srgbClr val="08508C"/>
                </a:solidFill>
                <a:latin typeface="Trebuchet MS"/>
                <a:cs typeface="Trebuchet MS"/>
              </a:rPr>
              <a:t>et</a:t>
            </a:r>
            <a:r>
              <a:rPr sz="4300" spc="-345" dirty="0">
                <a:solidFill>
                  <a:srgbClr val="08508C"/>
                </a:solidFill>
                <a:latin typeface="Trebuchet MS"/>
                <a:cs typeface="Trebuchet MS"/>
              </a:rPr>
              <a:t> </a:t>
            </a:r>
            <a:r>
              <a:rPr sz="4300" spc="-130" dirty="0">
                <a:solidFill>
                  <a:srgbClr val="085B9C"/>
                </a:solidFill>
                <a:latin typeface="Trebuchet MS"/>
                <a:cs typeface="Trebuchet MS"/>
              </a:rPr>
              <a:t>du</a:t>
            </a:r>
            <a:r>
              <a:rPr sz="4300" spc="-290" dirty="0">
                <a:solidFill>
                  <a:srgbClr val="085B9C"/>
                </a:solidFill>
                <a:latin typeface="Trebuchet MS"/>
                <a:cs typeface="Trebuchet MS"/>
              </a:rPr>
              <a:t> </a:t>
            </a:r>
            <a:r>
              <a:rPr sz="4300" spc="-150" dirty="0">
                <a:solidFill>
                  <a:srgbClr val="0A4D87"/>
                </a:solidFill>
                <a:latin typeface="Trebuchet MS"/>
                <a:cs typeface="Trebuchet MS"/>
              </a:rPr>
              <a:t>Turnover</a:t>
            </a:r>
            <a:endParaRPr sz="4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45"/>
              </a:spcBef>
            </a:pPr>
            <a:endParaRPr sz="4300" dirty="0">
              <a:latin typeface="Trebuchet MS"/>
              <a:cs typeface="Trebuchet MS"/>
            </a:endParaRPr>
          </a:p>
          <a:p>
            <a:pPr marL="12700">
              <a:lnSpc>
                <a:spcPts val="3979"/>
              </a:lnSpc>
            </a:pPr>
            <a:r>
              <a:rPr sz="3550" spc="-204" dirty="0">
                <a:solidFill>
                  <a:srgbClr val="0C3156"/>
                </a:solidFill>
                <a:latin typeface="Trebuchet MS"/>
                <a:cs typeface="Trebuchet MS"/>
              </a:rPr>
              <a:t>Réalisé</a:t>
            </a:r>
            <a:r>
              <a:rPr sz="3550" spc="-110" dirty="0">
                <a:solidFill>
                  <a:srgbClr val="0C3156"/>
                </a:solidFill>
                <a:latin typeface="Trebuchet MS"/>
                <a:cs typeface="Trebuchet MS"/>
              </a:rPr>
              <a:t> </a:t>
            </a:r>
            <a:r>
              <a:rPr sz="3550" spc="-20" dirty="0">
                <a:solidFill>
                  <a:srgbClr val="052649"/>
                </a:solidFill>
                <a:latin typeface="Trebuchet MS"/>
                <a:cs typeface="Trebuchet MS"/>
              </a:rPr>
              <a:t>par:</a:t>
            </a:r>
            <a:endParaRPr sz="3550" dirty="0">
              <a:latin typeface="Trebuchet MS"/>
              <a:cs typeface="Trebuchet MS"/>
            </a:endParaRPr>
          </a:p>
          <a:p>
            <a:pPr marL="17145">
              <a:lnSpc>
                <a:spcPts val="3620"/>
              </a:lnSpc>
            </a:pPr>
            <a:r>
              <a:rPr sz="3250" spc="-40" dirty="0">
                <a:solidFill>
                  <a:srgbClr val="505050"/>
                </a:solidFill>
                <a:latin typeface="Trebuchet MS"/>
                <a:cs typeface="Trebuchet MS"/>
              </a:rPr>
              <a:t>Dahbi</a:t>
            </a:r>
            <a:r>
              <a:rPr sz="3250" spc="-180" dirty="0">
                <a:solidFill>
                  <a:srgbClr val="505050"/>
                </a:solidFill>
                <a:latin typeface="Trebuchet MS"/>
                <a:cs typeface="Trebuchet MS"/>
              </a:rPr>
              <a:t> </a:t>
            </a:r>
            <a:r>
              <a:rPr sz="3250" spc="-150" dirty="0">
                <a:solidFill>
                  <a:srgbClr val="4B4B4B"/>
                </a:solidFill>
                <a:latin typeface="Trebuchet MS"/>
                <a:cs typeface="Trebuchet MS"/>
              </a:rPr>
              <a:t>Moad,</a:t>
            </a:r>
            <a:r>
              <a:rPr sz="3250" spc="-250" dirty="0">
                <a:solidFill>
                  <a:srgbClr val="4B4B4B"/>
                </a:solidFill>
                <a:latin typeface="Trebuchet MS"/>
                <a:cs typeface="Trebuchet MS"/>
              </a:rPr>
              <a:t> </a:t>
            </a:r>
            <a:r>
              <a:rPr sz="3250" spc="-175" dirty="0">
                <a:solidFill>
                  <a:srgbClr val="484848"/>
                </a:solidFill>
                <a:latin typeface="Trebuchet MS"/>
                <a:cs typeface="Trebuchet MS"/>
              </a:rPr>
              <a:t>Allam</a:t>
            </a:r>
            <a:r>
              <a:rPr sz="3250" spc="-65" dirty="0">
                <a:solidFill>
                  <a:srgbClr val="484848"/>
                </a:solidFill>
                <a:latin typeface="Trebuchet MS"/>
                <a:cs typeface="Trebuchet MS"/>
              </a:rPr>
              <a:t> </a:t>
            </a:r>
            <a:r>
              <a:rPr sz="3250" spc="-210" dirty="0">
                <a:solidFill>
                  <a:srgbClr val="4B4B4B"/>
                </a:solidFill>
                <a:latin typeface="Trebuchet MS"/>
                <a:cs typeface="Trebuchet MS"/>
              </a:rPr>
              <a:t>Elarbi,</a:t>
            </a:r>
            <a:r>
              <a:rPr sz="3250" spc="-175" dirty="0">
                <a:solidFill>
                  <a:srgbClr val="4B4B4B"/>
                </a:solidFill>
                <a:latin typeface="Trebuchet MS"/>
                <a:cs typeface="Trebuchet MS"/>
              </a:rPr>
              <a:t> </a:t>
            </a:r>
            <a:r>
              <a:rPr sz="3250" spc="-70" dirty="0">
                <a:solidFill>
                  <a:srgbClr val="444444"/>
                </a:solidFill>
                <a:latin typeface="Trebuchet MS"/>
                <a:cs typeface="Trebuchet MS"/>
              </a:rPr>
              <a:t>Bouker</a:t>
            </a:r>
            <a:r>
              <a:rPr sz="3250" spc="-45" dirty="0">
                <a:solidFill>
                  <a:srgbClr val="444444"/>
                </a:solidFill>
                <a:latin typeface="Trebuchet MS"/>
                <a:cs typeface="Trebuchet MS"/>
              </a:rPr>
              <a:t> </a:t>
            </a:r>
            <a:r>
              <a:rPr sz="3250" spc="-10" dirty="0">
                <a:solidFill>
                  <a:srgbClr val="484848"/>
                </a:solidFill>
                <a:latin typeface="Trebuchet MS"/>
                <a:cs typeface="Trebuchet MS"/>
              </a:rPr>
              <a:t>Mohamed</a:t>
            </a:r>
            <a:endParaRPr sz="3250" dirty="0">
              <a:latin typeface="Trebuchet MS"/>
              <a:cs typeface="Trebuchet MS"/>
            </a:endParaRPr>
          </a:p>
          <a:p>
            <a:pPr marL="14604">
              <a:lnSpc>
                <a:spcPts val="3954"/>
              </a:lnSpc>
              <a:spcBef>
                <a:spcPts val="2300"/>
              </a:spcBef>
            </a:pPr>
            <a:r>
              <a:rPr sz="3550" spc="-204" dirty="0">
                <a:solidFill>
                  <a:srgbClr val="083459"/>
                </a:solidFill>
                <a:latin typeface="Trebuchet MS"/>
                <a:cs typeface="Trebuchet MS"/>
              </a:rPr>
              <a:t>Encadrant</a:t>
            </a:r>
            <a:r>
              <a:rPr sz="3550" spc="-210" dirty="0">
                <a:solidFill>
                  <a:srgbClr val="083459"/>
                </a:solidFill>
                <a:latin typeface="Trebuchet MS"/>
                <a:cs typeface="Trebuchet MS"/>
              </a:rPr>
              <a:t> </a:t>
            </a:r>
            <a:r>
              <a:rPr sz="3550" spc="-50" dirty="0">
                <a:solidFill>
                  <a:srgbClr val="133150"/>
                </a:solidFill>
                <a:latin typeface="Trebuchet MS"/>
                <a:cs typeface="Trebuchet MS"/>
              </a:rPr>
              <a:t>:</a:t>
            </a:r>
            <a:endParaRPr sz="3550" dirty="0">
              <a:latin typeface="Trebuchet MS"/>
              <a:cs typeface="Trebuchet MS"/>
            </a:endParaRPr>
          </a:p>
          <a:p>
            <a:pPr marL="16510">
              <a:lnSpc>
                <a:spcPts val="3654"/>
              </a:lnSpc>
            </a:pPr>
            <a:r>
              <a:rPr sz="3300" spc="-240" dirty="0">
                <a:solidFill>
                  <a:srgbClr val="444444"/>
                </a:solidFill>
                <a:latin typeface="Trebuchet MS"/>
                <a:cs typeface="Trebuchet MS"/>
              </a:rPr>
              <a:t>Pr.</a:t>
            </a:r>
            <a:r>
              <a:rPr sz="3300" spc="-275" dirty="0">
                <a:solidFill>
                  <a:srgbClr val="444444"/>
                </a:solidFill>
                <a:latin typeface="Trebuchet MS"/>
                <a:cs typeface="Trebuchet MS"/>
              </a:rPr>
              <a:t> </a:t>
            </a:r>
            <a:r>
              <a:rPr sz="3300" spc="-80" dirty="0">
                <a:solidFill>
                  <a:srgbClr val="494949"/>
                </a:solidFill>
                <a:latin typeface="Trebuchet MS"/>
                <a:cs typeface="Trebuchet MS"/>
              </a:rPr>
              <a:t>Hassan</a:t>
            </a:r>
            <a:r>
              <a:rPr sz="3300" spc="-120" dirty="0">
                <a:solidFill>
                  <a:srgbClr val="494949"/>
                </a:solidFill>
                <a:latin typeface="Trebuchet MS"/>
                <a:cs typeface="Trebuchet MS"/>
              </a:rPr>
              <a:t> </a:t>
            </a:r>
            <a:r>
              <a:rPr sz="3300" spc="-10" dirty="0">
                <a:solidFill>
                  <a:srgbClr val="4B4B4B"/>
                </a:solidFill>
                <a:latin typeface="Trebuchet MS"/>
                <a:cs typeface="Trebuchet MS"/>
              </a:rPr>
              <a:t>BADIR</a:t>
            </a:r>
            <a:endParaRPr sz="3300" dirty="0">
              <a:latin typeface="Trebuchet MS"/>
              <a:cs typeface="Trebuchet M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5098EA-1345-6DC3-7D05-1C42FD259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2168" y="357363"/>
            <a:ext cx="2590800" cy="17716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EE82A3-8C0B-1168-C819-A63755A70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228600"/>
            <a:ext cx="1952625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565400" y="2596347"/>
            <a:ext cx="3403600" cy="3352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92900" y="3124200"/>
            <a:ext cx="4089400" cy="2120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46000" y="5245100"/>
            <a:ext cx="1562100" cy="584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64900" y="2476500"/>
            <a:ext cx="3924300" cy="2667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>
              <a:lnSpc>
                <a:spcPct val="100000"/>
              </a:lnSpc>
              <a:spcBef>
                <a:spcPts val="100"/>
              </a:spcBef>
            </a:pPr>
            <a:r>
              <a:rPr sz="7500" spc="-455" dirty="0">
                <a:solidFill>
                  <a:srgbClr val="01599C"/>
                </a:solidFill>
              </a:rPr>
              <a:t>Contexte</a:t>
            </a:r>
            <a:r>
              <a:rPr sz="7500" spc="-90" dirty="0">
                <a:solidFill>
                  <a:srgbClr val="01599C"/>
                </a:solidFill>
              </a:rPr>
              <a:t> </a:t>
            </a:r>
            <a:r>
              <a:rPr sz="7500" spc="-170" dirty="0">
                <a:solidFill>
                  <a:srgbClr val="035293"/>
                </a:solidFill>
              </a:rPr>
              <a:t>et</a:t>
            </a:r>
            <a:r>
              <a:rPr sz="7500" spc="-380" dirty="0">
                <a:solidFill>
                  <a:srgbClr val="035293"/>
                </a:solidFill>
              </a:rPr>
              <a:t> </a:t>
            </a:r>
            <a:r>
              <a:rPr sz="7500" spc="-465" dirty="0">
                <a:solidFill>
                  <a:srgbClr val="015293"/>
                </a:solidFill>
              </a:rPr>
              <a:t>Problématique</a:t>
            </a:r>
            <a:endParaRPr sz="7500" dirty="0"/>
          </a:p>
        </p:txBody>
      </p:sp>
      <p:sp>
        <p:nvSpPr>
          <p:cNvPr id="8" name="object 8"/>
          <p:cNvSpPr txBox="1"/>
          <p:nvPr/>
        </p:nvSpPr>
        <p:spPr>
          <a:xfrm>
            <a:off x="553206" y="6096000"/>
            <a:ext cx="6736593" cy="3013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9330" algn="ctr">
              <a:lnSpc>
                <a:spcPts val="4560"/>
              </a:lnSpc>
              <a:spcBef>
                <a:spcPts val="95"/>
              </a:spcBef>
            </a:pPr>
            <a:r>
              <a:rPr sz="4100" spc="-245" dirty="0">
                <a:solidFill>
                  <a:srgbClr val="4D4D4D"/>
                </a:solidFill>
                <a:latin typeface="Trebuchet MS"/>
                <a:cs typeface="Trebuchet MS"/>
              </a:rPr>
              <a:t>LE</a:t>
            </a:r>
            <a:r>
              <a:rPr lang="en-US" sz="4100" spc="-10" dirty="0">
                <a:solidFill>
                  <a:srgbClr val="494949"/>
                </a:solidFill>
                <a:latin typeface="Trebuchet MS"/>
                <a:cs typeface="Trebuchet MS"/>
              </a:rPr>
              <a:t> PROBLEME</a:t>
            </a:r>
            <a:endParaRPr lang="en-US" sz="4100" dirty="0">
              <a:latin typeface="Trebuchet MS"/>
              <a:cs typeface="Trebuchet MS"/>
            </a:endParaRPr>
          </a:p>
          <a:p>
            <a:pPr algn="ctr">
              <a:lnSpc>
                <a:spcPts val="4560"/>
              </a:lnSpc>
              <a:tabLst>
                <a:tab pos="532765" algn="l"/>
                <a:tab pos="972185" algn="l"/>
              </a:tabLst>
            </a:pPr>
            <a:r>
              <a:rPr lang="en-150" sz="4100" dirty="0">
                <a:solidFill>
                  <a:srgbClr val="8A8A8A"/>
                </a:solidFill>
                <a:latin typeface="Trebuchet MS"/>
                <a:cs typeface="Trebuchet MS"/>
              </a:rPr>
              <a:t>	</a:t>
            </a:r>
            <a:r>
              <a:rPr lang="en-US" sz="4100" dirty="0">
                <a:solidFill>
                  <a:srgbClr val="3D3D3D"/>
                </a:solidFill>
                <a:latin typeface="Trebuchet MS"/>
                <a:cs typeface="Trebuchet MS"/>
              </a:rPr>
              <a:t>(L'ANCIENNE</a:t>
            </a:r>
            <a:r>
              <a:rPr lang="en-US" sz="4100" spc="509" dirty="0">
                <a:solidFill>
                  <a:srgbClr val="3D3D3D"/>
                </a:solidFill>
                <a:latin typeface="Trebuchet MS"/>
                <a:cs typeface="Trebuchet MS"/>
              </a:rPr>
              <a:t> </a:t>
            </a:r>
            <a:r>
              <a:rPr lang="en-US" sz="4100" spc="-80" dirty="0">
                <a:solidFill>
                  <a:srgbClr val="4B4B4B"/>
                </a:solidFill>
                <a:latin typeface="Trebuchet MS"/>
                <a:cs typeface="Trebuchet MS"/>
              </a:rPr>
              <a:t>MÉTHODE)</a:t>
            </a:r>
            <a:endParaRPr lang="en-US" sz="4100" dirty="0">
              <a:latin typeface="Trebuchet MS"/>
              <a:cs typeface="Trebuchet MS"/>
            </a:endParaRPr>
          </a:p>
          <a:p>
            <a:pPr marL="1270635" indent="-355600">
              <a:lnSpc>
                <a:spcPts val="4205"/>
              </a:lnSpc>
              <a:spcBef>
                <a:spcPts val="1630"/>
              </a:spcBef>
              <a:buChar char="•"/>
              <a:tabLst>
                <a:tab pos="1270635" algn="l"/>
              </a:tabLst>
            </a:pPr>
            <a:r>
              <a:rPr sz="3550" spc="-229" dirty="0">
                <a:latin typeface="+mj-lt"/>
                <a:cs typeface="Trebuchet MS"/>
              </a:rPr>
              <a:t>Gestion</a:t>
            </a:r>
            <a:r>
              <a:rPr sz="3550" spc="15" dirty="0">
                <a:latin typeface="+mj-lt"/>
                <a:cs typeface="Trebuchet MS"/>
              </a:rPr>
              <a:t> </a:t>
            </a:r>
            <a:r>
              <a:rPr sz="3550" spc="-225" dirty="0">
                <a:latin typeface="+mj-lt"/>
                <a:cs typeface="Trebuchet MS"/>
              </a:rPr>
              <a:t>adm</a:t>
            </a:r>
            <a:r>
              <a:rPr lang="en-US" sz="3550" spc="-225" dirty="0">
                <a:latin typeface="+mj-lt"/>
                <a:cs typeface="Trebuchet MS"/>
              </a:rPr>
              <a:t>i</a:t>
            </a:r>
            <a:r>
              <a:rPr sz="3550" spc="-225" dirty="0">
                <a:latin typeface="+mj-lt"/>
                <a:cs typeface="Trebuchet MS"/>
              </a:rPr>
              <a:t>nistrative</a:t>
            </a:r>
            <a:r>
              <a:rPr sz="3550" spc="-55" dirty="0">
                <a:latin typeface="+mj-lt"/>
                <a:cs typeface="Trebuchet MS"/>
              </a:rPr>
              <a:t> </a:t>
            </a:r>
            <a:r>
              <a:rPr sz="3550" spc="-175" dirty="0">
                <a:latin typeface="+mj-lt"/>
                <a:cs typeface="Trebuchet MS"/>
              </a:rPr>
              <a:t>rigide</a:t>
            </a:r>
            <a:endParaRPr sz="3550" dirty="0">
              <a:latin typeface="+mj-lt"/>
              <a:cs typeface="Trebuchet MS"/>
            </a:endParaRPr>
          </a:p>
          <a:p>
            <a:pPr marL="1280795" indent="-365760">
              <a:lnSpc>
                <a:spcPts val="4150"/>
              </a:lnSpc>
              <a:buChar char="•"/>
              <a:tabLst>
                <a:tab pos="1280795" algn="l"/>
              </a:tabLst>
            </a:pPr>
            <a:r>
              <a:rPr sz="3550" spc="-150" dirty="0">
                <a:latin typeface="+mj-lt"/>
                <a:cs typeface="Trebuchet MS"/>
              </a:rPr>
              <a:t>Données</a:t>
            </a:r>
            <a:r>
              <a:rPr sz="3550" spc="-20" dirty="0">
                <a:latin typeface="+mj-lt"/>
                <a:cs typeface="Trebuchet MS"/>
              </a:rPr>
              <a:t> </a:t>
            </a:r>
            <a:r>
              <a:rPr sz="3550" spc="-195" dirty="0">
                <a:latin typeface="+mj-lt"/>
                <a:cs typeface="Trebuchet MS"/>
              </a:rPr>
              <a:t>dispersées</a:t>
            </a:r>
            <a:r>
              <a:rPr sz="3550" spc="-114" dirty="0">
                <a:latin typeface="+mj-lt"/>
                <a:cs typeface="Trebuchet MS"/>
              </a:rPr>
              <a:t> </a:t>
            </a:r>
            <a:r>
              <a:rPr sz="3550" spc="-295" dirty="0">
                <a:latin typeface="+mj-lt"/>
                <a:cs typeface="Trebuchet MS"/>
              </a:rPr>
              <a:t>(Excel)</a:t>
            </a:r>
            <a:endParaRPr sz="3550" dirty="0">
              <a:latin typeface="+mj-lt"/>
              <a:cs typeface="Trebuchet MS"/>
            </a:endParaRPr>
          </a:p>
          <a:p>
            <a:pPr marL="1296670" indent="-381635">
              <a:lnSpc>
                <a:spcPts val="4205"/>
              </a:lnSpc>
              <a:buChar char="•"/>
              <a:tabLst>
                <a:tab pos="1296670" algn="l"/>
              </a:tabLst>
            </a:pPr>
            <a:r>
              <a:rPr sz="3550" spc="-160" dirty="0">
                <a:latin typeface="+mj-lt"/>
                <a:cs typeface="Trebuchet MS"/>
              </a:rPr>
              <a:t>Manque</a:t>
            </a:r>
            <a:r>
              <a:rPr sz="3550" spc="-50" dirty="0">
                <a:latin typeface="+mj-lt"/>
                <a:cs typeface="Trebuchet MS"/>
              </a:rPr>
              <a:t> </a:t>
            </a:r>
            <a:r>
              <a:rPr sz="3550" spc="-260" dirty="0">
                <a:latin typeface="+mj-lt"/>
                <a:cs typeface="Trebuchet MS"/>
              </a:rPr>
              <a:t>de</a:t>
            </a:r>
            <a:r>
              <a:rPr sz="3550" spc="-195" dirty="0">
                <a:latin typeface="+mj-lt"/>
                <a:cs typeface="Trebuchet MS"/>
              </a:rPr>
              <a:t> </a:t>
            </a:r>
            <a:r>
              <a:rPr sz="3550" spc="-254" dirty="0">
                <a:latin typeface="+mj-lt"/>
                <a:cs typeface="Trebuchet MS"/>
              </a:rPr>
              <a:t>visibilïté</a:t>
            </a:r>
            <a:r>
              <a:rPr sz="3550" spc="-125" dirty="0">
                <a:latin typeface="+mj-lt"/>
                <a:cs typeface="Trebuchet MS"/>
              </a:rPr>
              <a:t> </a:t>
            </a:r>
            <a:r>
              <a:rPr sz="3550" spc="-45" dirty="0">
                <a:latin typeface="+mj-lt"/>
                <a:cs typeface="Trebuchet MS"/>
              </a:rPr>
              <a:t>globale</a:t>
            </a:r>
            <a:endParaRPr sz="3550" dirty="0">
              <a:latin typeface="+mj-lt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43597" y="6263922"/>
            <a:ext cx="5379085" cy="2996333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94615" indent="1140460">
              <a:lnSpc>
                <a:spcPts val="4200"/>
              </a:lnSpc>
              <a:spcBef>
                <a:spcPts val="765"/>
              </a:spcBef>
            </a:pPr>
            <a:r>
              <a:rPr sz="4000" dirty="0">
                <a:solidFill>
                  <a:srgbClr val="055290"/>
                </a:solidFill>
                <a:latin typeface="Trebuchet MS"/>
                <a:cs typeface="Trebuchet MS"/>
              </a:rPr>
              <a:t>LA</a:t>
            </a:r>
            <a:r>
              <a:rPr sz="4000" spc="-195" dirty="0">
                <a:solidFill>
                  <a:srgbClr val="05529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084983"/>
                </a:solidFill>
                <a:latin typeface="Trebuchet MS"/>
                <a:cs typeface="Trebuchet MS"/>
              </a:rPr>
              <a:t>SOLUTION </a:t>
            </a:r>
            <a:r>
              <a:rPr sz="4000" dirty="0">
                <a:solidFill>
                  <a:srgbClr val="0C548E"/>
                </a:solidFill>
                <a:latin typeface="Trebuchet MS"/>
                <a:cs typeface="Trebuchet MS"/>
              </a:rPr>
              <a:t>(NOUVELLE</a:t>
            </a:r>
            <a:r>
              <a:rPr sz="4000" spc="-90" dirty="0">
                <a:solidFill>
                  <a:srgbClr val="0C548E"/>
                </a:solidFill>
                <a:latin typeface="Trebuchet MS"/>
                <a:cs typeface="Trebuchet MS"/>
              </a:rPr>
              <a:t> </a:t>
            </a:r>
            <a:r>
              <a:rPr sz="4000" spc="-25" dirty="0">
                <a:solidFill>
                  <a:srgbClr val="03579A"/>
                </a:solidFill>
                <a:latin typeface="Trebuchet MS"/>
                <a:cs typeface="Trebuchet MS"/>
              </a:rPr>
              <a:t>APPROCHE)</a:t>
            </a:r>
            <a:endParaRPr sz="4000" dirty="0">
              <a:latin typeface="Trebuchet MS"/>
              <a:cs typeface="Trebuchet MS"/>
            </a:endParaRPr>
          </a:p>
          <a:p>
            <a:pPr marL="601980" indent="-571500">
              <a:lnSpc>
                <a:spcPts val="4205"/>
              </a:lnSpc>
              <a:spcBef>
                <a:spcPts val="1610"/>
              </a:spcBef>
              <a:buChar char="•"/>
              <a:tabLst>
                <a:tab pos="387350" algn="l"/>
              </a:tabLst>
            </a:pPr>
            <a:r>
              <a:rPr sz="3550" spc="-229" dirty="0">
                <a:latin typeface="+mj-lt"/>
              </a:rPr>
              <a:t>Tableaux de bord interactifs</a:t>
            </a:r>
          </a:p>
          <a:p>
            <a:pPr marL="601980" indent="-571500">
              <a:lnSpc>
                <a:spcPts val="4150"/>
              </a:lnSpc>
              <a:buChar char="•"/>
              <a:tabLst>
                <a:tab pos="396240" algn="l"/>
              </a:tabLst>
            </a:pPr>
            <a:r>
              <a:rPr sz="3550" spc="-229" dirty="0">
                <a:latin typeface="+mj-lt"/>
              </a:rPr>
              <a:t>Décisions stratégiques</a:t>
            </a:r>
          </a:p>
          <a:p>
            <a:pPr marL="601980" indent="-571500">
              <a:lnSpc>
                <a:spcPts val="4205"/>
              </a:lnSpc>
              <a:buChar char="•"/>
              <a:tabLst>
                <a:tab pos="394335" algn="l"/>
              </a:tabLst>
            </a:pPr>
            <a:r>
              <a:rPr sz="3550" spc="-229" dirty="0">
                <a:latin typeface="+mj-lt"/>
              </a:rPr>
              <a:t>Réduction de l'attritîon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984088-913F-E5F1-FB83-95207EF2E6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0587" y="4695667"/>
            <a:ext cx="2600413" cy="1133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19E03C2-2B6A-E55A-C513-0055E5AEE7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260" y="2529113"/>
            <a:ext cx="2480340" cy="11477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683000"/>
            <a:ext cx="15811500" cy="2413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18200" y="2227069"/>
            <a:ext cx="4572000" cy="635000"/>
          </a:xfrm>
          <a:prstGeom prst="rect">
            <a:avLst/>
          </a:prstGeom>
          <a:solidFill>
            <a:srgbClr val="597993"/>
          </a:solidFill>
        </p:spPr>
        <p:txBody>
          <a:bodyPr vert="horz" wrap="square" lIns="0" tIns="76200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600"/>
              </a:spcBef>
            </a:pP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Stack</a:t>
            </a:r>
            <a:r>
              <a:rPr sz="27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114F7E"/>
                </a:solidFill>
                <a:latin typeface="Arial MT"/>
                <a:cs typeface="Arial MT"/>
              </a:rPr>
              <a:t>:</a:t>
            </a:r>
            <a:r>
              <a:rPr sz="2700" spc="-190" dirty="0">
                <a:solidFill>
                  <a:srgbClr val="114F7E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Microsoft</a:t>
            </a:r>
            <a:r>
              <a:rPr sz="27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-65" dirty="0">
                <a:solidFill>
                  <a:srgbClr val="8CAFCA"/>
                </a:solidFill>
                <a:latin typeface="Arial MT"/>
                <a:cs typeface="Arial MT"/>
              </a:rPr>
              <a:t>Power</a:t>
            </a:r>
            <a:r>
              <a:rPr sz="2700" spc="-5" dirty="0">
                <a:solidFill>
                  <a:srgbClr val="8CAFCA"/>
                </a:solidFill>
                <a:latin typeface="Arial MT"/>
                <a:cs typeface="Arial MT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BI</a:t>
            </a:r>
            <a:endParaRPr sz="27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3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25"/>
              </a:spcBef>
            </a:pPr>
            <a:r>
              <a:rPr sz="5600" spc="-125" dirty="0">
                <a:solidFill>
                  <a:srgbClr val="035497"/>
                </a:solidFill>
              </a:rPr>
              <a:t>Méthodologie</a:t>
            </a:r>
            <a:r>
              <a:rPr sz="5600" spc="-150" dirty="0">
                <a:solidFill>
                  <a:srgbClr val="035497"/>
                </a:solidFill>
              </a:rPr>
              <a:t> </a:t>
            </a:r>
            <a:r>
              <a:rPr sz="5600" dirty="0">
                <a:solidFill>
                  <a:srgbClr val="014F8E"/>
                </a:solidFill>
              </a:rPr>
              <a:t>et</a:t>
            </a:r>
            <a:r>
              <a:rPr sz="5600" spc="-390" dirty="0">
                <a:solidFill>
                  <a:srgbClr val="014F8E"/>
                </a:solidFill>
              </a:rPr>
              <a:t> </a:t>
            </a:r>
            <a:r>
              <a:rPr sz="5600" spc="-114" dirty="0">
                <a:solidFill>
                  <a:srgbClr val="035291"/>
                </a:solidFill>
              </a:rPr>
              <a:t>Architecture</a:t>
            </a:r>
            <a:r>
              <a:rPr sz="5600" spc="-120" dirty="0">
                <a:solidFill>
                  <a:srgbClr val="035291"/>
                </a:solidFill>
              </a:rPr>
              <a:t> </a:t>
            </a:r>
            <a:r>
              <a:rPr sz="5600" spc="-280" dirty="0">
                <a:solidFill>
                  <a:srgbClr val="035290"/>
                </a:solidFill>
              </a:rPr>
              <a:t>Technique</a:t>
            </a:r>
            <a:endParaRPr sz="5600"/>
          </a:p>
        </p:txBody>
      </p:sp>
      <p:sp>
        <p:nvSpPr>
          <p:cNvPr id="5" name="object 5"/>
          <p:cNvSpPr txBox="1"/>
          <p:nvPr/>
        </p:nvSpPr>
        <p:spPr>
          <a:xfrm>
            <a:off x="1332736" y="6666794"/>
            <a:ext cx="3769360" cy="222048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0480" marR="5080" algn="ctr">
              <a:lnSpc>
                <a:spcPts val="4205"/>
              </a:lnSpc>
              <a:spcBef>
                <a:spcPts val="515"/>
              </a:spcBef>
              <a:tabLst>
                <a:tab pos="394335" algn="l"/>
              </a:tabLst>
            </a:pPr>
            <a:r>
              <a:rPr sz="3550" spc="-229" dirty="0">
                <a:latin typeface="+mj-lt"/>
              </a:rPr>
              <a:t>Connexion et normalisation du fichier HRDataset.xlsx via Power Query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39707" y="6657975"/>
            <a:ext cx="3702685" cy="1359026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indent="184150" algn="just">
              <a:lnSpc>
                <a:spcPts val="3300"/>
              </a:lnSpc>
              <a:spcBef>
                <a:spcPts val="585"/>
              </a:spcBef>
            </a:pPr>
            <a:r>
              <a:rPr sz="3550" spc="-229" dirty="0">
                <a:latin typeface="+mj-lt"/>
              </a:rPr>
              <a:t>Création de mesures calculées : Attrition %, Age Bucket, Salary Avg.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C7C303-060F-95B3-B200-69D16FC28A36}"/>
              </a:ext>
            </a:extLst>
          </p:cNvPr>
          <p:cNvSpPr txBox="1"/>
          <p:nvPr/>
        </p:nvSpPr>
        <p:spPr>
          <a:xfrm>
            <a:off x="11252200" y="6471866"/>
            <a:ext cx="39624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sz="3550" dirty="0">
                <a:latin typeface="+mj-lt"/>
              </a:rPr>
              <a:t>Conception De </a:t>
            </a:r>
            <a:r>
              <a:rPr lang="en-150" sz="3550" dirty="0" err="1">
                <a:latin typeface="+mj-lt"/>
              </a:rPr>
              <a:t>l'expérience</a:t>
            </a:r>
            <a:r>
              <a:rPr lang="en-150" sz="3550" dirty="0">
                <a:latin typeface="+mj-lt"/>
              </a:rPr>
              <a:t> </a:t>
            </a:r>
            <a:r>
              <a:rPr lang="en-150" sz="3550" dirty="0" err="1">
                <a:latin typeface="+mj-lt"/>
              </a:rPr>
              <a:t>utilisateur</a:t>
            </a:r>
            <a:r>
              <a:rPr lang="en-150" sz="3550" dirty="0">
                <a:latin typeface="+mj-lt"/>
              </a:rPr>
              <a:t> (UX) et </a:t>
            </a:r>
            <a:r>
              <a:rPr lang="en-150" sz="3550" dirty="0" err="1">
                <a:latin typeface="+mj-lt"/>
              </a:rPr>
              <a:t>interactivité</a:t>
            </a:r>
            <a:endParaRPr lang="en-150" sz="355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515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sz="4350" dirty="0">
                <a:solidFill>
                  <a:srgbClr val="035795"/>
                </a:solidFill>
              </a:rPr>
              <a:t>Analyse</a:t>
            </a:r>
            <a:r>
              <a:rPr sz="4350" spc="15" dirty="0">
                <a:solidFill>
                  <a:srgbClr val="035795"/>
                </a:solidFill>
              </a:rPr>
              <a:t> </a:t>
            </a:r>
            <a:r>
              <a:rPr sz="4350" dirty="0">
                <a:solidFill>
                  <a:srgbClr val="035691"/>
                </a:solidFill>
              </a:rPr>
              <a:t>des</a:t>
            </a:r>
            <a:r>
              <a:rPr sz="4350" spc="-195" dirty="0">
                <a:solidFill>
                  <a:srgbClr val="035691"/>
                </a:solidFill>
              </a:rPr>
              <a:t> </a:t>
            </a:r>
            <a:r>
              <a:rPr sz="4350" spc="-55" dirty="0">
                <a:solidFill>
                  <a:srgbClr val="054D8A"/>
                </a:solidFill>
              </a:rPr>
              <a:t>Données</a:t>
            </a:r>
            <a:r>
              <a:rPr sz="4350" spc="-70" dirty="0">
                <a:solidFill>
                  <a:srgbClr val="054D8A"/>
                </a:solidFill>
              </a:rPr>
              <a:t> </a:t>
            </a:r>
            <a:r>
              <a:rPr sz="4350" dirty="0">
                <a:solidFill>
                  <a:srgbClr val="0E5690"/>
                </a:solidFill>
              </a:rPr>
              <a:t>:</a:t>
            </a:r>
            <a:r>
              <a:rPr sz="4350" spc="-20" dirty="0">
                <a:solidFill>
                  <a:srgbClr val="0E5690"/>
                </a:solidFill>
              </a:rPr>
              <a:t> </a:t>
            </a:r>
            <a:r>
              <a:rPr sz="4350" dirty="0">
                <a:solidFill>
                  <a:srgbClr val="034D83"/>
                </a:solidFill>
              </a:rPr>
              <a:t>Indicateurs</a:t>
            </a:r>
            <a:r>
              <a:rPr sz="4350" spc="35" dirty="0">
                <a:solidFill>
                  <a:srgbClr val="034D83"/>
                </a:solidFill>
              </a:rPr>
              <a:t> </a:t>
            </a:r>
            <a:r>
              <a:rPr sz="4350" dirty="0">
                <a:solidFill>
                  <a:srgbClr val="075495"/>
                </a:solidFill>
              </a:rPr>
              <a:t>Clés</a:t>
            </a:r>
            <a:r>
              <a:rPr sz="4350" spc="-45" dirty="0">
                <a:solidFill>
                  <a:srgbClr val="075495"/>
                </a:solidFill>
              </a:rPr>
              <a:t> </a:t>
            </a:r>
            <a:r>
              <a:rPr sz="4350" dirty="0">
                <a:solidFill>
                  <a:srgbClr val="054D87"/>
                </a:solidFill>
              </a:rPr>
              <a:t>de</a:t>
            </a:r>
            <a:r>
              <a:rPr sz="4350" spc="-229" dirty="0">
                <a:solidFill>
                  <a:srgbClr val="054D87"/>
                </a:solidFill>
              </a:rPr>
              <a:t> </a:t>
            </a:r>
            <a:r>
              <a:rPr sz="4350" dirty="0">
                <a:solidFill>
                  <a:srgbClr val="084F89"/>
                </a:solidFill>
              </a:rPr>
              <a:t>Performance</a:t>
            </a:r>
            <a:r>
              <a:rPr sz="4350" spc="160" dirty="0">
                <a:solidFill>
                  <a:srgbClr val="084F89"/>
                </a:solidFill>
              </a:rPr>
              <a:t> </a:t>
            </a:r>
            <a:r>
              <a:rPr sz="4350" spc="-10" dirty="0">
                <a:solidFill>
                  <a:srgbClr val="0F548A"/>
                </a:solidFill>
              </a:rPr>
              <a:t>(KPIs)</a:t>
            </a:r>
            <a:endParaRPr sz="43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03D57E-8169-64E0-2519-C1756E7F0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30" y="1905000"/>
            <a:ext cx="15095340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500" y="9105900"/>
            <a:ext cx="15900400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5400" y="2959100"/>
            <a:ext cx="5524500" cy="4013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72600" y="2971800"/>
            <a:ext cx="7162800" cy="39497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77309" y="556683"/>
            <a:ext cx="6918723" cy="84574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400" spc="-55" dirty="0" err="1">
                <a:solidFill>
                  <a:srgbClr val="015293"/>
                </a:solidFill>
              </a:rPr>
              <a:t>Analyse</a:t>
            </a:r>
            <a:r>
              <a:rPr sz="5400" spc="-315" dirty="0">
                <a:solidFill>
                  <a:srgbClr val="015293"/>
                </a:solidFill>
              </a:rPr>
              <a:t> </a:t>
            </a:r>
            <a:r>
              <a:rPr sz="5400" spc="-40" dirty="0" err="1">
                <a:solidFill>
                  <a:srgbClr val="01569E"/>
                </a:solidFill>
              </a:rPr>
              <a:t>Approfondie</a:t>
            </a:r>
            <a:r>
              <a:rPr lang="en-US" sz="5400" spc="-40" dirty="0">
                <a:solidFill>
                  <a:srgbClr val="01569E"/>
                </a:solidFill>
              </a:rPr>
              <a:t> 1</a:t>
            </a:r>
            <a:endParaRPr sz="5400" dirty="0"/>
          </a:p>
        </p:txBody>
      </p:sp>
      <p:sp>
        <p:nvSpPr>
          <p:cNvPr id="6" name="object 6"/>
          <p:cNvSpPr txBox="1"/>
          <p:nvPr/>
        </p:nvSpPr>
        <p:spPr>
          <a:xfrm>
            <a:off x="7811861" y="556683"/>
            <a:ext cx="7298690" cy="850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400" dirty="0">
                <a:solidFill>
                  <a:srgbClr val="035697"/>
                </a:solidFill>
                <a:latin typeface="Arial MT"/>
                <a:cs typeface="Arial MT"/>
              </a:rPr>
              <a:t>:</a:t>
            </a:r>
            <a:r>
              <a:rPr sz="5400" spc="-375" dirty="0">
                <a:solidFill>
                  <a:srgbClr val="035697"/>
                </a:solidFill>
                <a:latin typeface="Arial MT"/>
                <a:cs typeface="Arial MT"/>
              </a:rPr>
              <a:t> </a:t>
            </a:r>
            <a:r>
              <a:rPr sz="5400" dirty="0">
                <a:solidFill>
                  <a:srgbClr val="034F8C"/>
                </a:solidFill>
                <a:latin typeface="Arial MT"/>
                <a:cs typeface="Arial MT"/>
              </a:rPr>
              <a:t>Diagnostic</a:t>
            </a:r>
            <a:r>
              <a:rPr sz="5400" spc="35" dirty="0">
                <a:solidFill>
                  <a:srgbClr val="034F8C"/>
                </a:solidFill>
                <a:latin typeface="Arial MT"/>
                <a:cs typeface="Arial MT"/>
              </a:rPr>
              <a:t> </a:t>
            </a:r>
            <a:r>
              <a:rPr sz="5400" dirty="0">
                <a:solidFill>
                  <a:srgbClr val="03549E"/>
                </a:solidFill>
                <a:latin typeface="Arial MT"/>
                <a:cs typeface="Arial MT"/>
              </a:rPr>
              <a:t>du</a:t>
            </a:r>
            <a:r>
              <a:rPr sz="5400" spc="-530" dirty="0">
                <a:solidFill>
                  <a:srgbClr val="03549E"/>
                </a:solidFill>
                <a:latin typeface="Arial MT"/>
                <a:cs typeface="Arial MT"/>
              </a:rPr>
              <a:t> </a:t>
            </a:r>
            <a:r>
              <a:rPr sz="5400" spc="-85" dirty="0">
                <a:solidFill>
                  <a:srgbClr val="035291"/>
                </a:solidFill>
                <a:latin typeface="Arial MT"/>
                <a:cs typeface="Arial MT"/>
              </a:rPr>
              <a:t>Turnover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2103" y="2071158"/>
            <a:ext cx="3717290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85" dirty="0">
                <a:solidFill>
                  <a:srgbClr val="0C4D82"/>
                </a:solidFill>
                <a:latin typeface="Arial MT"/>
                <a:cs typeface="Arial MT"/>
              </a:rPr>
              <a:t>Foyer</a:t>
            </a:r>
            <a:r>
              <a:rPr sz="3550" spc="-145" dirty="0">
                <a:solidFill>
                  <a:srgbClr val="0C4D82"/>
                </a:solidFill>
                <a:latin typeface="Arial MT"/>
                <a:cs typeface="Arial MT"/>
              </a:rPr>
              <a:t> </a:t>
            </a:r>
            <a:r>
              <a:rPr sz="3550" spc="-45" dirty="0">
                <a:solidFill>
                  <a:srgbClr val="0A4D83"/>
                </a:solidFill>
                <a:latin typeface="Arial MT"/>
                <a:cs typeface="Arial MT"/>
              </a:rPr>
              <a:t>du</a:t>
            </a:r>
            <a:r>
              <a:rPr sz="3550" spc="-240" dirty="0">
                <a:solidFill>
                  <a:srgbClr val="0A4D83"/>
                </a:solidFill>
                <a:latin typeface="Arial MT"/>
                <a:cs typeface="Arial MT"/>
              </a:rPr>
              <a:t> </a:t>
            </a:r>
            <a:r>
              <a:rPr sz="3550" spc="-30" dirty="0">
                <a:solidFill>
                  <a:srgbClr val="0A508C"/>
                </a:solidFill>
                <a:latin typeface="Arial MT"/>
                <a:cs typeface="Arial MT"/>
              </a:rPr>
              <a:t>Problème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9744" y="3309408"/>
            <a:ext cx="130556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90" dirty="0">
                <a:latin typeface="Arial MT"/>
                <a:cs typeface="Arial MT"/>
              </a:rPr>
              <a:t>Production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2477" y="4258027"/>
            <a:ext cx="58420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40" dirty="0">
                <a:latin typeface="Arial MT"/>
                <a:cs typeface="Arial MT"/>
              </a:rPr>
              <a:t>IT/IS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7617" y="5193947"/>
            <a:ext cx="6546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85" dirty="0">
                <a:latin typeface="Arial MT"/>
                <a:cs typeface="Arial MT"/>
              </a:rPr>
              <a:t>Sales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6180" y="5963708"/>
            <a:ext cx="1422400" cy="702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ts val="2605"/>
              </a:lnSpc>
              <a:spcBef>
                <a:spcPts val="90"/>
              </a:spcBef>
            </a:pPr>
            <a:r>
              <a:rPr sz="2300" spc="-10" dirty="0">
                <a:latin typeface="Arial MT"/>
                <a:cs typeface="Arial MT"/>
              </a:rPr>
              <a:t>Software</a:t>
            </a:r>
            <a:endParaRPr sz="2300">
              <a:latin typeface="Arial MT"/>
              <a:cs typeface="Arial MT"/>
            </a:endParaRPr>
          </a:p>
          <a:p>
            <a:pPr marR="17780" algn="r">
              <a:lnSpc>
                <a:spcPts val="2725"/>
              </a:lnSpc>
            </a:pPr>
            <a:r>
              <a:rPr sz="2400" spc="-180" dirty="0">
                <a:latin typeface="Arial MT"/>
                <a:cs typeface="Arial MT"/>
              </a:rPr>
              <a:t>Engineering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52712" y="6931730"/>
            <a:ext cx="22352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50" dirty="0">
                <a:latin typeface="Courier New"/>
                <a:cs typeface="Courier New"/>
              </a:rPr>
              <a:t>0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79488" y="6155266"/>
            <a:ext cx="105600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482600" algn="l"/>
              </a:tabLst>
            </a:pPr>
            <a:r>
              <a:rPr sz="2050" spc="-25" dirty="0">
                <a:solidFill>
                  <a:srgbClr val="828282"/>
                </a:solidFill>
                <a:latin typeface="Arial MT"/>
                <a:cs typeface="Arial MT"/>
              </a:rPr>
              <a:t>11</a:t>
            </a:r>
            <a:r>
              <a:rPr sz="2050" dirty="0">
                <a:solidFill>
                  <a:srgbClr val="828282"/>
                </a:solidFill>
                <a:latin typeface="Arial MT"/>
                <a:cs typeface="Arial MT"/>
              </a:rPr>
              <a:t>	</a:t>
            </a:r>
            <a:r>
              <a:rPr sz="2050" spc="-10" dirty="0">
                <a:solidFill>
                  <a:srgbClr val="7C7C7C"/>
                </a:solidFill>
                <a:latin typeface="Arial MT"/>
                <a:cs typeface="Arial MT"/>
              </a:rPr>
              <a:t>(3</a:t>
            </a:r>
            <a:r>
              <a:rPr sz="1875" spc="-15" baseline="44444" dirty="0">
                <a:solidFill>
                  <a:srgbClr val="7C7C7C"/>
                </a:solidFill>
                <a:latin typeface="Arial MT"/>
                <a:cs typeface="Arial MT"/>
              </a:rPr>
              <a:t>0</a:t>
            </a:r>
            <a:r>
              <a:rPr sz="2050" spc="-10" dirty="0">
                <a:solidFill>
                  <a:srgbClr val="7C7C7C"/>
                </a:solidFill>
                <a:latin typeface="Arial MT"/>
                <a:cs typeface="Arial MT"/>
              </a:rPr>
              <a:t>/c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35828" y="6975827"/>
            <a:ext cx="1221232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837689" algn="l"/>
                <a:tab pos="3649979" algn="l"/>
                <a:tab pos="5533390" algn="l"/>
                <a:tab pos="6549390" algn="l"/>
                <a:tab pos="7552690" algn="l"/>
                <a:tab pos="8568690" algn="l"/>
                <a:tab pos="9571990" algn="l"/>
                <a:tab pos="10587990" algn="l"/>
                <a:tab pos="11591290" algn="l"/>
              </a:tabLst>
            </a:pPr>
            <a:r>
              <a:rPr sz="2150" spc="-25" dirty="0">
                <a:latin typeface="Arial MT"/>
                <a:cs typeface="Arial MT"/>
              </a:rPr>
              <a:t>100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5" dirty="0">
                <a:latin typeface="Arial MT"/>
                <a:cs typeface="Arial MT"/>
              </a:rPr>
              <a:t>200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300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150" spc="-20" dirty="0">
                <a:latin typeface="Arial MT"/>
                <a:cs typeface="Arial MT"/>
              </a:rPr>
              <a:t>2008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0" dirty="0">
                <a:latin typeface="Arial MT"/>
                <a:cs typeface="Arial MT"/>
              </a:rPr>
              <a:t>2009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0" dirty="0">
                <a:latin typeface="Arial MT"/>
                <a:cs typeface="Arial MT"/>
              </a:rPr>
              <a:t>2010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0" dirty="0">
                <a:latin typeface="Arial MT"/>
                <a:cs typeface="Arial MT"/>
              </a:rPr>
              <a:t>2011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0" dirty="0">
                <a:latin typeface="Arial MT"/>
                <a:cs typeface="Arial MT"/>
              </a:rPr>
              <a:t>2012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0" dirty="0">
                <a:latin typeface="Arial MT"/>
                <a:cs typeface="Arial MT"/>
              </a:rPr>
              <a:t>2013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0" dirty="0">
                <a:latin typeface="Arial MT"/>
                <a:cs typeface="Arial MT"/>
              </a:rPr>
              <a:t>2014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4909" y="3269191"/>
            <a:ext cx="144843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95" dirty="0">
                <a:solidFill>
                  <a:srgbClr val="0A4F89"/>
                </a:solidFill>
                <a:latin typeface="Arial MT"/>
                <a:cs typeface="Arial MT"/>
              </a:rPr>
              <a:t>209</a:t>
            </a:r>
            <a:r>
              <a:rPr sz="2700" spc="-90" dirty="0">
                <a:solidFill>
                  <a:srgbClr val="0A4F89"/>
                </a:solidFill>
                <a:latin typeface="Arial MT"/>
                <a:cs typeface="Arial MT"/>
              </a:rPr>
              <a:t> </a:t>
            </a:r>
            <a:r>
              <a:rPr sz="2700" spc="-175" dirty="0">
                <a:solidFill>
                  <a:srgbClr val="0F3F69"/>
                </a:solidFill>
                <a:latin typeface="Arial MT"/>
                <a:cs typeface="Arial MT"/>
              </a:rPr>
              <a:t>(67%)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09093" y="4289777"/>
            <a:ext cx="2186940" cy="102489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65735" marR="5080" indent="-153670">
              <a:lnSpc>
                <a:spcPts val="3700"/>
              </a:lnSpc>
              <a:spcBef>
                <a:spcPts val="610"/>
              </a:spcBef>
            </a:pPr>
            <a:r>
              <a:rPr sz="3450" spc="-240" dirty="0">
                <a:solidFill>
                  <a:srgbClr val="055295"/>
                </a:solidFill>
                <a:latin typeface="Trebuchet MS"/>
                <a:cs typeface="Trebuchet MS"/>
              </a:rPr>
              <a:t>Majorité</a:t>
            </a:r>
            <a:r>
              <a:rPr sz="3450" spc="-65" dirty="0">
                <a:solidFill>
                  <a:srgbClr val="055295"/>
                </a:solidFill>
                <a:latin typeface="Trebuchet MS"/>
                <a:cs typeface="Trebuchet MS"/>
              </a:rPr>
              <a:t> </a:t>
            </a:r>
            <a:r>
              <a:rPr sz="3450" spc="-85" dirty="0">
                <a:solidFill>
                  <a:srgbClr val="074B87"/>
                </a:solidFill>
                <a:latin typeface="Trebuchet MS"/>
                <a:cs typeface="Trebuchet MS"/>
              </a:rPr>
              <a:t>des </a:t>
            </a:r>
            <a:r>
              <a:rPr sz="3450" spc="-195" dirty="0">
                <a:solidFill>
                  <a:srgbClr val="034680"/>
                </a:solidFill>
                <a:latin typeface="Trebuchet MS"/>
                <a:cs typeface="Trebuchet MS"/>
              </a:rPr>
              <a:t>départs</a:t>
            </a:r>
            <a:r>
              <a:rPr sz="3450" spc="-114" dirty="0">
                <a:solidFill>
                  <a:srgbClr val="034680"/>
                </a:solidFill>
                <a:latin typeface="Trebuchet MS"/>
                <a:cs typeface="Trebuchet MS"/>
              </a:rPr>
              <a:t> </a:t>
            </a:r>
            <a:r>
              <a:rPr sz="3450" spc="-25" dirty="0">
                <a:solidFill>
                  <a:srgbClr val="0A4D85"/>
                </a:solidFill>
                <a:latin typeface="Trebuchet MS"/>
                <a:cs typeface="Trebuchet MS"/>
              </a:rPr>
              <a:t>ici</a:t>
            </a:r>
            <a:endParaRPr sz="34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36658" y="2071158"/>
            <a:ext cx="4831080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25" dirty="0">
                <a:solidFill>
                  <a:srgbClr val="084D85"/>
                </a:solidFill>
                <a:latin typeface="Arial MT"/>
                <a:cs typeface="Arial MT"/>
              </a:rPr>
              <a:t>Temporalité</a:t>
            </a:r>
            <a:r>
              <a:rPr sz="3550" spc="-175" dirty="0">
                <a:solidFill>
                  <a:srgbClr val="084D85"/>
                </a:solidFill>
                <a:latin typeface="Arial MT"/>
                <a:cs typeface="Arial MT"/>
              </a:rPr>
              <a:t> </a:t>
            </a:r>
            <a:r>
              <a:rPr sz="3550" spc="-80" dirty="0">
                <a:solidFill>
                  <a:srgbClr val="0C4D85"/>
                </a:solidFill>
                <a:latin typeface="Arial MT"/>
                <a:cs typeface="Arial MT"/>
              </a:rPr>
              <a:t>des</a:t>
            </a:r>
            <a:r>
              <a:rPr sz="3550" spc="-180" dirty="0">
                <a:solidFill>
                  <a:srgbClr val="0C4D85"/>
                </a:solidFill>
                <a:latin typeface="Arial MT"/>
                <a:cs typeface="Arial MT"/>
              </a:rPr>
              <a:t> </a:t>
            </a:r>
            <a:r>
              <a:rPr sz="3550" spc="-25" dirty="0">
                <a:solidFill>
                  <a:srgbClr val="034985"/>
                </a:solidFill>
                <a:latin typeface="Arial MT"/>
                <a:cs typeface="Arial MT"/>
              </a:rPr>
              <a:t>Départs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2216" y="7808383"/>
            <a:ext cx="15925800" cy="1156086"/>
          </a:xfrm>
          <a:prstGeom prst="rect">
            <a:avLst/>
          </a:prstGeom>
          <a:ln w="21166">
            <a:solidFill>
              <a:srgbClr val="1C5787"/>
            </a:solidFill>
          </a:ln>
        </p:spPr>
        <p:txBody>
          <a:bodyPr vert="horz" wrap="square" lIns="0" tIns="179705" rIns="0" bIns="0" rtlCol="0">
            <a:spAutoFit/>
          </a:bodyPr>
          <a:lstStyle/>
          <a:p>
            <a:pPr marL="162560" marR="100330" indent="-20955">
              <a:lnSpc>
                <a:spcPts val="3750"/>
              </a:lnSpc>
              <a:spcBef>
                <a:spcPts val="1415"/>
              </a:spcBef>
            </a:pPr>
            <a:r>
              <a:rPr sz="3250" spc="-85" dirty="0">
                <a:solidFill>
                  <a:srgbClr val="0C528E"/>
                </a:solidFill>
                <a:latin typeface="Arial MT"/>
                <a:cs typeface="Arial MT"/>
              </a:rPr>
              <a:t>Constat</a:t>
            </a:r>
            <a:r>
              <a:rPr sz="3250" spc="-140" dirty="0">
                <a:solidFill>
                  <a:srgbClr val="0C528E"/>
                </a:solidFill>
                <a:latin typeface="Arial MT"/>
                <a:cs typeface="Arial MT"/>
              </a:rPr>
              <a:t> </a:t>
            </a:r>
            <a:r>
              <a:rPr sz="3250" spc="-45" dirty="0">
                <a:solidFill>
                  <a:srgbClr val="1C5280"/>
                </a:solidFill>
                <a:latin typeface="Arial MT"/>
                <a:cs typeface="Arial MT"/>
              </a:rPr>
              <a:t>:</a:t>
            </a:r>
            <a:r>
              <a:rPr sz="3250" spc="-225" dirty="0">
                <a:solidFill>
                  <a:srgbClr val="1C5280"/>
                </a:solidFill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1</a:t>
            </a:r>
            <a:r>
              <a:rPr sz="3250" spc="-225" dirty="0">
                <a:latin typeface="Arial MT"/>
                <a:cs typeface="Arial MT"/>
              </a:rPr>
              <a:t> </a:t>
            </a:r>
            <a:r>
              <a:rPr sz="3250" spc="-110" dirty="0">
                <a:latin typeface="Arial MT"/>
                <a:cs typeface="Arial MT"/>
              </a:rPr>
              <a:t>employé</a:t>
            </a:r>
            <a:r>
              <a:rPr sz="3250" spc="-114" dirty="0">
                <a:latin typeface="Arial MT"/>
                <a:cs typeface="Arial MT"/>
              </a:rPr>
              <a:t> </a:t>
            </a:r>
            <a:r>
              <a:rPr sz="3250" spc="-130" dirty="0">
                <a:latin typeface="Arial MT"/>
                <a:cs typeface="Arial MT"/>
              </a:rPr>
              <a:t>sur</a:t>
            </a:r>
            <a:r>
              <a:rPr sz="3250" spc="-9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3</a:t>
            </a:r>
            <a:r>
              <a:rPr sz="3250" spc="-204" dirty="0">
                <a:latin typeface="Arial MT"/>
                <a:cs typeface="Arial MT"/>
              </a:rPr>
              <a:t> </a:t>
            </a:r>
            <a:r>
              <a:rPr sz="3250" spc="-225" dirty="0">
                <a:latin typeface="Arial MT"/>
                <a:cs typeface="Arial MT"/>
              </a:rPr>
              <a:t>a</a:t>
            </a:r>
            <a:r>
              <a:rPr sz="3250" spc="-100" dirty="0">
                <a:latin typeface="Arial MT"/>
                <a:cs typeface="Arial MT"/>
              </a:rPr>
              <a:t> </a:t>
            </a:r>
            <a:r>
              <a:rPr sz="3250" spc="-45" dirty="0">
                <a:latin typeface="Arial MT"/>
                <a:cs typeface="Arial MT"/>
              </a:rPr>
              <a:t>quitté</a:t>
            </a:r>
            <a:r>
              <a:rPr sz="3250" spc="-130" dirty="0">
                <a:latin typeface="Arial MT"/>
                <a:cs typeface="Arial MT"/>
              </a:rPr>
              <a:t> </a:t>
            </a:r>
            <a:r>
              <a:rPr sz="3250" spc="-85" dirty="0">
                <a:latin typeface="Arial MT"/>
                <a:cs typeface="Arial MT"/>
              </a:rPr>
              <a:t>l'entreprise.</a:t>
            </a:r>
            <a:r>
              <a:rPr sz="3250" spc="-75" dirty="0">
                <a:latin typeface="Arial MT"/>
                <a:cs typeface="Arial MT"/>
              </a:rPr>
              <a:t> </a:t>
            </a:r>
            <a:r>
              <a:rPr sz="3250" spc="-110" dirty="0" err="1">
                <a:latin typeface="Arial MT"/>
                <a:cs typeface="Arial MT"/>
              </a:rPr>
              <a:t>L'impact</a:t>
            </a:r>
            <a:r>
              <a:rPr sz="3250" spc="-114" dirty="0">
                <a:latin typeface="Arial MT"/>
                <a:cs typeface="Arial MT"/>
              </a:rPr>
              <a:t> </a:t>
            </a:r>
            <a:r>
              <a:rPr lang="en-US" sz="3250" spc="-65" dirty="0">
                <a:latin typeface="Arial MT"/>
                <a:cs typeface="Arial MT"/>
              </a:rPr>
              <a:t>fi</a:t>
            </a:r>
            <a:r>
              <a:rPr sz="3250" spc="-65" dirty="0">
                <a:latin typeface="Arial MT"/>
                <a:cs typeface="Arial MT"/>
              </a:rPr>
              <a:t>nancier</a:t>
            </a:r>
            <a:r>
              <a:rPr sz="3250" spc="50" dirty="0">
                <a:latin typeface="Arial MT"/>
                <a:cs typeface="Arial MT"/>
              </a:rPr>
              <a:t> </a:t>
            </a:r>
            <a:r>
              <a:rPr sz="3250" spc="-165" dirty="0">
                <a:latin typeface="Arial MT"/>
                <a:cs typeface="Arial MT"/>
              </a:rPr>
              <a:t>se</a:t>
            </a:r>
            <a:r>
              <a:rPr sz="3250" spc="-204" dirty="0">
                <a:latin typeface="Arial MT"/>
                <a:cs typeface="Arial MT"/>
              </a:rPr>
              <a:t> </a:t>
            </a:r>
            <a:r>
              <a:rPr sz="3250" spc="-25" dirty="0">
                <a:latin typeface="Arial MT"/>
                <a:cs typeface="Arial MT"/>
              </a:rPr>
              <a:t>traduit</a:t>
            </a:r>
            <a:r>
              <a:rPr sz="3250" spc="-30" dirty="0">
                <a:latin typeface="Arial MT"/>
                <a:cs typeface="Arial MT"/>
              </a:rPr>
              <a:t> </a:t>
            </a:r>
            <a:r>
              <a:rPr sz="3250" spc="-155" dirty="0">
                <a:latin typeface="Arial MT"/>
                <a:cs typeface="Arial MT"/>
              </a:rPr>
              <a:t>par</a:t>
            </a:r>
            <a:r>
              <a:rPr sz="3250" spc="-70" dirty="0">
                <a:latin typeface="Arial MT"/>
                <a:cs typeface="Arial MT"/>
              </a:rPr>
              <a:t> </a:t>
            </a:r>
            <a:r>
              <a:rPr sz="3250" spc="-155" dirty="0">
                <a:latin typeface="Arial MT"/>
                <a:cs typeface="Arial MT"/>
              </a:rPr>
              <a:t>une</a:t>
            </a:r>
            <a:r>
              <a:rPr sz="3250" spc="-120" dirty="0">
                <a:latin typeface="Arial MT"/>
                <a:cs typeface="Arial MT"/>
              </a:rPr>
              <a:t> </a:t>
            </a:r>
            <a:r>
              <a:rPr sz="3250" spc="-65" dirty="0">
                <a:latin typeface="Arial MT"/>
                <a:cs typeface="Arial MT"/>
              </a:rPr>
              <a:t>perte</a:t>
            </a:r>
            <a:r>
              <a:rPr sz="3250" spc="-135" dirty="0">
                <a:latin typeface="Arial MT"/>
                <a:cs typeface="Arial MT"/>
              </a:rPr>
              <a:t> </a:t>
            </a:r>
            <a:r>
              <a:rPr sz="3250" spc="-25" dirty="0">
                <a:latin typeface="Arial MT"/>
                <a:cs typeface="Arial MT"/>
              </a:rPr>
              <a:t>de </a:t>
            </a:r>
            <a:r>
              <a:rPr sz="3250" spc="-125" dirty="0">
                <a:latin typeface="Arial MT"/>
                <a:cs typeface="Arial MT"/>
              </a:rPr>
              <a:t>savoir-</a:t>
            </a:r>
            <a:r>
              <a:rPr sz="3250" spc="-50" dirty="0">
                <a:latin typeface="Arial MT"/>
                <a:cs typeface="Arial MT"/>
              </a:rPr>
              <a:t>faire</a:t>
            </a:r>
            <a:r>
              <a:rPr sz="3250" spc="-18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et</a:t>
            </a:r>
            <a:r>
              <a:rPr sz="3250" spc="-225" dirty="0">
                <a:latin typeface="Arial MT"/>
                <a:cs typeface="Arial MT"/>
              </a:rPr>
              <a:t> </a:t>
            </a:r>
            <a:r>
              <a:rPr sz="3250" spc="-140" dirty="0">
                <a:latin typeface="Arial MT"/>
                <a:cs typeface="Arial MT"/>
              </a:rPr>
              <a:t>des</a:t>
            </a:r>
            <a:r>
              <a:rPr sz="3250" spc="-165" dirty="0">
                <a:latin typeface="Arial MT"/>
                <a:cs typeface="Arial MT"/>
              </a:rPr>
              <a:t> </a:t>
            </a:r>
            <a:r>
              <a:rPr sz="3250" spc="-20" dirty="0">
                <a:latin typeface="Arial MT"/>
                <a:cs typeface="Arial MT"/>
              </a:rPr>
              <a:t>coûts</a:t>
            </a:r>
            <a:r>
              <a:rPr sz="3250" spc="-180" dirty="0">
                <a:latin typeface="Arial MT"/>
                <a:cs typeface="Arial MT"/>
              </a:rPr>
              <a:t> </a:t>
            </a:r>
            <a:r>
              <a:rPr sz="3250" spc="-135" dirty="0">
                <a:latin typeface="Arial MT"/>
                <a:cs typeface="Arial MT"/>
              </a:rPr>
              <a:t>de</a:t>
            </a:r>
            <a:r>
              <a:rPr sz="3250" spc="-180" dirty="0">
                <a:latin typeface="Arial MT"/>
                <a:cs typeface="Arial MT"/>
              </a:rPr>
              <a:t> </a:t>
            </a:r>
            <a:r>
              <a:rPr sz="3250" spc="-100" dirty="0">
                <a:latin typeface="Arial MT"/>
                <a:cs typeface="Arial MT"/>
              </a:rPr>
              <a:t>remplacement</a:t>
            </a:r>
            <a:r>
              <a:rPr sz="3250" spc="80" dirty="0">
                <a:latin typeface="Arial MT"/>
                <a:cs typeface="Arial MT"/>
              </a:rPr>
              <a:t> </a:t>
            </a:r>
            <a:r>
              <a:rPr sz="3250" spc="-10" dirty="0">
                <a:latin typeface="Arial MT"/>
                <a:cs typeface="Arial MT"/>
              </a:rPr>
              <a:t>élevés.</a:t>
            </a:r>
            <a:endParaRPr sz="32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5700" y="3263900"/>
            <a:ext cx="4013200" cy="41783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08939" y="4633405"/>
            <a:ext cx="1179195" cy="1672589"/>
          </a:xfrm>
          <a:prstGeom prst="rect">
            <a:avLst/>
          </a:prstGeom>
        </p:spPr>
        <p:txBody>
          <a:bodyPr vert="horz" wrap="square" lIns="0" tIns="313055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2465"/>
              </a:spcBef>
            </a:pP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3950">
              <a:latin typeface="Arial MT"/>
              <a:cs typeface="Arial MT"/>
            </a:endParaRPr>
          </a:p>
          <a:p>
            <a:pPr marR="5080" algn="ctr">
              <a:lnSpc>
                <a:spcPct val="100000"/>
              </a:lnSpc>
              <a:spcBef>
                <a:spcPts val="1960"/>
              </a:spcBef>
            </a:pPr>
            <a:r>
              <a:rPr sz="3250" spc="-145" dirty="0">
                <a:solidFill>
                  <a:srgbClr val="FFFFFF"/>
                </a:solidFill>
                <a:latin typeface="Arial MT"/>
                <a:cs typeface="Arial MT"/>
              </a:rPr>
              <a:t>Indeed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63804" y="549274"/>
            <a:ext cx="15443200" cy="882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692890" algn="l"/>
              </a:tabLst>
            </a:pPr>
            <a:r>
              <a:rPr sz="5600" spc="-204" dirty="0">
                <a:solidFill>
                  <a:srgbClr val="084D90"/>
                </a:solidFill>
                <a:latin typeface="Trebuchet MS"/>
                <a:cs typeface="Trebuchet MS"/>
              </a:rPr>
              <a:t>Analyse</a:t>
            </a:r>
            <a:r>
              <a:rPr sz="5600" spc="-105" dirty="0">
                <a:solidFill>
                  <a:srgbClr val="084D90"/>
                </a:solidFill>
                <a:latin typeface="Trebuchet MS"/>
                <a:cs typeface="Trebuchet MS"/>
              </a:rPr>
              <a:t> </a:t>
            </a:r>
            <a:r>
              <a:rPr sz="5600" spc="-260" dirty="0">
                <a:solidFill>
                  <a:srgbClr val="03498E"/>
                </a:solidFill>
                <a:latin typeface="Trebuchet MS"/>
                <a:cs typeface="Trebuchet MS"/>
              </a:rPr>
              <a:t>Approfondie</a:t>
            </a:r>
            <a:r>
              <a:rPr sz="5600" spc="60" dirty="0">
                <a:solidFill>
                  <a:srgbClr val="03498E"/>
                </a:solidFill>
                <a:latin typeface="Trebuchet MS"/>
                <a:cs typeface="Trebuchet MS"/>
              </a:rPr>
              <a:t> </a:t>
            </a:r>
            <a:r>
              <a:rPr sz="5600" spc="-185" dirty="0">
                <a:solidFill>
                  <a:srgbClr val="03498E"/>
                </a:solidFill>
                <a:latin typeface="Trebuchet MS"/>
                <a:cs typeface="Trebuchet MS"/>
              </a:rPr>
              <a:t>2</a:t>
            </a:r>
            <a:r>
              <a:rPr sz="5600" spc="-960" dirty="0">
                <a:solidFill>
                  <a:srgbClr val="03498E"/>
                </a:solidFill>
                <a:latin typeface="Trebuchet MS"/>
                <a:cs typeface="Trebuchet MS"/>
              </a:rPr>
              <a:t> </a:t>
            </a:r>
            <a:r>
              <a:rPr sz="5600" spc="140" dirty="0">
                <a:solidFill>
                  <a:srgbClr val="0A529A"/>
                </a:solidFill>
                <a:latin typeface="Trebuchet MS"/>
                <a:cs typeface="Trebuchet MS"/>
              </a:rPr>
              <a:t>:</a:t>
            </a:r>
            <a:r>
              <a:rPr sz="5600" spc="-1050" dirty="0">
                <a:solidFill>
                  <a:srgbClr val="0A529A"/>
                </a:solidFill>
                <a:latin typeface="Trebuchet MS"/>
                <a:cs typeface="Trebuchet MS"/>
              </a:rPr>
              <a:t> </a:t>
            </a:r>
            <a:r>
              <a:rPr sz="5600" spc="-285" dirty="0" err="1">
                <a:solidFill>
                  <a:srgbClr val="075295"/>
                </a:solidFill>
                <a:latin typeface="Trebuchet MS"/>
                <a:cs typeface="Trebuchet MS"/>
              </a:rPr>
              <a:t>Démographie</a:t>
            </a:r>
            <a:r>
              <a:rPr lang="en-US" sz="5600" spc="-285" dirty="0">
                <a:solidFill>
                  <a:srgbClr val="075295"/>
                </a:solidFill>
                <a:latin typeface="Trebuchet MS"/>
                <a:cs typeface="Trebuchet MS"/>
              </a:rPr>
              <a:t> </a:t>
            </a:r>
            <a:r>
              <a:rPr sz="5600" spc="-315" dirty="0" err="1">
                <a:solidFill>
                  <a:srgbClr val="034889"/>
                </a:solidFill>
                <a:latin typeface="Trebuchet MS"/>
                <a:cs typeface="Trebuchet MS"/>
              </a:rPr>
              <a:t>Recrutement</a:t>
            </a:r>
            <a:endParaRPr sz="56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6945" y="2253897"/>
            <a:ext cx="591883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0A497E"/>
                </a:solidFill>
                <a:latin typeface="Trebuchet MS"/>
                <a:cs typeface="Trebuchet MS"/>
              </a:rPr>
              <a:t>Le</a:t>
            </a:r>
            <a:r>
              <a:rPr sz="3400" spc="10" dirty="0">
                <a:solidFill>
                  <a:srgbClr val="0A497E"/>
                </a:solidFill>
                <a:latin typeface="Trebuchet MS"/>
                <a:cs typeface="Trebuchet MS"/>
              </a:rPr>
              <a:t> </a:t>
            </a:r>
            <a:r>
              <a:rPr sz="3400" dirty="0">
                <a:solidFill>
                  <a:srgbClr val="08467C"/>
                </a:solidFill>
                <a:latin typeface="Trebuchet MS"/>
                <a:cs typeface="Trebuchet MS"/>
              </a:rPr>
              <a:t>Papy-</a:t>
            </a:r>
            <a:r>
              <a:rPr sz="3400" spc="55" dirty="0">
                <a:solidFill>
                  <a:srgbClr val="08467C"/>
                </a:solidFill>
                <a:latin typeface="Trebuchet MS"/>
                <a:cs typeface="Trebuchet MS"/>
              </a:rPr>
              <a:t>Boom</a:t>
            </a:r>
            <a:r>
              <a:rPr sz="3400" spc="40" dirty="0">
                <a:solidFill>
                  <a:srgbClr val="08467C"/>
                </a:solidFill>
                <a:latin typeface="Trebuchet MS"/>
                <a:cs typeface="Trebuchet MS"/>
              </a:rPr>
              <a:t> </a:t>
            </a:r>
            <a:r>
              <a:rPr sz="3400" spc="35" dirty="0">
                <a:solidFill>
                  <a:srgbClr val="0A4680"/>
                </a:solidFill>
                <a:latin typeface="Trebuchet MS"/>
                <a:cs typeface="Trebuchet MS"/>
              </a:rPr>
              <a:t>(Démographie)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5555" y="7140927"/>
            <a:ext cx="831850" cy="681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570"/>
              </a:lnSpc>
              <a:spcBef>
                <a:spcPts val="120"/>
              </a:spcBef>
            </a:pPr>
            <a:r>
              <a:rPr sz="2200" spc="-25" dirty="0">
                <a:latin typeface="Trebuchet MS"/>
                <a:cs typeface="Trebuchet MS"/>
              </a:rPr>
              <a:t>46-</a:t>
            </a:r>
            <a:endParaRPr sz="2200">
              <a:latin typeface="Trebuchet MS"/>
              <a:cs typeface="Trebuchet MS"/>
            </a:endParaRPr>
          </a:p>
          <a:p>
            <a:pPr marL="337820">
              <a:lnSpc>
                <a:spcPts val="2570"/>
              </a:lnSpc>
            </a:pPr>
            <a:r>
              <a:rPr sz="2200" spc="90" dirty="0">
                <a:latin typeface="Trebuchet MS"/>
                <a:cs typeface="Trebuchet MS"/>
              </a:rPr>
              <a:t>20g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31495" y="4796719"/>
            <a:ext cx="1182370" cy="7016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765"/>
              </a:lnSpc>
              <a:spcBef>
                <a:spcPts val="130"/>
              </a:spcBef>
            </a:pPr>
            <a:r>
              <a:rPr sz="2400" spc="-175" dirty="0">
                <a:latin typeface="Cambria"/>
                <a:cs typeface="Cambria"/>
              </a:rPr>
              <a:t>36-</a:t>
            </a:r>
            <a:r>
              <a:rPr sz="2400" spc="-195" dirty="0">
                <a:latin typeface="Cambria"/>
                <a:cs typeface="Cambria"/>
              </a:rPr>
              <a:t>45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ans</a:t>
            </a:r>
            <a:endParaRPr sz="2400">
              <a:latin typeface="Cambria"/>
              <a:cs typeface="Cambria"/>
            </a:endParaRPr>
          </a:p>
          <a:p>
            <a:pPr algn="ctr">
              <a:lnSpc>
                <a:spcPts val="2525"/>
              </a:lnSpc>
            </a:pPr>
            <a:r>
              <a:rPr sz="2200" spc="-285" dirty="0">
                <a:latin typeface="Cambria"/>
                <a:cs typeface="Cambria"/>
              </a:rPr>
              <a:t>48W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7321" y="8092016"/>
            <a:ext cx="692340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9680" marR="5080" indent="-1237615">
              <a:lnSpc>
                <a:spcPts val="4100"/>
              </a:lnSpc>
              <a:spcBef>
                <a:spcPts val="100"/>
              </a:spcBef>
            </a:pPr>
            <a:r>
              <a:rPr sz="3300" spc="-110" dirty="0">
                <a:solidFill>
                  <a:srgbClr val="114B79"/>
                </a:solidFill>
                <a:latin typeface="Arial MT"/>
                <a:cs typeface="Arial MT"/>
              </a:rPr>
              <a:t>Risque</a:t>
            </a:r>
            <a:r>
              <a:rPr sz="3300" spc="-120" dirty="0">
                <a:solidFill>
                  <a:srgbClr val="114B79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F487B"/>
                </a:solidFill>
                <a:latin typeface="Arial MT"/>
                <a:cs typeface="Arial MT"/>
              </a:rPr>
              <a:t>:</a:t>
            </a:r>
            <a:r>
              <a:rPr sz="3300" spc="-25" dirty="0">
                <a:solidFill>
                  <a:srgbClr val="0F487B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8467C"/>
                </a:solidFill>
                <a:latin typeface="Arial MT"/>
                <a:cs typeface="Arial MT"/>
              </a:rPr>
              <a:t>Départs</a:t>
            </a:r>
            <a:r>
              <a:rPr sz="3300" spc="20" dirty="0">
                <a:solidFill>
                  <a:srgbClr val="08467C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74279"/>
                </a:solidFill>
                <a:latin typeface="Arial MT"/>
                <a:cs typeface="Arial MT"/>
              </a:rPr>
              <a:t>à</a:t>
            </a:r>
            <a:r>
              <a:rPr sz="3300" spc="-60" dirty="0">
                <a:solidFill>
                  <a:srgbClr val="074279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F4680"/>
                </a:solidFill>
                <a:latin typeface="Arial MT"/>
                <a:cs typeface="Arial MT"/>
              </a:rPr>
              <a:t>la</a:t>
            </a:r>
            <a:r>
              <a:rPr sz="3300" spc="-180" dirty="0">
                <a:solidFill>
                  <a:srgbClr val="0F4680"/>
                </a:solidFill>
                <a:latin typeface="Arial MT"/>
                <a:cs typeface="Arial MT"/>
              </a:rPr>
              <a:t> </a:t>
            </a:r>
            <a:r>
              <a:rPr sz="3300" spc="135" dirty="0">
                <a:solidFill>
                  <a:srgbClr val="0C3F74"/>
                </a:solidFill>
                <a:latin typeface="Arial MT"/>
                <a:cs typeface="Arial MT"/>
              </a:rPr>
              <a:t>retraite</a:t>
            </a:r>
            <a:r>
              <a:rPr sz="3300" spc="-70" dirty="0">
                <a:solidFill>
                  <a:srgbClr val="0C3F74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F4B82"/>
                </a:solidFill>
                <a:latin typeface="Arial MT"/>
                <a:cs typeface="Arial MT"/>
              </a:rPr>
              <a:t>massifs </a:t>
            </a:r>
            <a:r>
              <a:rPr sz="3300" dirty="0">
                <a:solidFill>
                  <a:srgbClr val="05427B"/>
                </a:solidFill>
                <a:latin typeface="Arial MT"/>
                <a:cs typeface="Arial MT"/>
              </a:rPr>
              <a:t>à</a:t>
            </a:r>
            <a:r>
              <a:rPr sz="3300" spc="40" dirty="0">
                <a:solidFill>
                  <a:srgbClr val="05427B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E4B85"/>
                </a:solidFill>
                <a:latin typeface="Arial MT"/>
                <a:cs typeface="Arial MT"/>
              </a:rPr>
              <a:t>anticiper</a:t>
            </a:r>
            <a:r>
              <a:rPr sz="3300" spc="300" dirty="0">
                <a:solidFill>
                  <a:srgbClr val="0E4B85"/>
                </a:solidFill>
                <a:latin typeface="Arial MT"/>
                <a:cs typeface="Arial MT"/>
              </a:rPr>
              <a:t> </a:t>
            </a:r>
            <a:r>
              <a:rPr sz="3300" spc="-45" dirty="0">
                <a:solidFill>
                  <a:srgbClr val="03427C"/>
                </a:solidFill>
                <a:latin typeface="Arial MT"/>
                <a:cs typeface="Arial MT"/>
              </a:rPr>
              <a:t>dans</a:t>
            </a:r>
            <a:r>
              <a:rPr sz="3300" spc="-195" dirty="0">
                <a:solidFill>
                  <a:srgbClr val="03427C"/>
                </a:solidFill>
                <a:latin typeface="Arial MT"/>
                <a:cs typeface="Arial MT"/>
              </a:rPr>
              <a:t> </a:t>
            </a:r>
            <a:r>
              <a:rPr sz="3300" spc="-40" dirty="0">
                <a:solidFill>
                  <a:srgbClr val="084885"/>
                </a:solidFill>
                <a:latin typeface="Arial MT"/>
                <a:cs typeface="Arial MT"/>
              </a:rPr>
              <a:t>10</a:t>
            </a:r>
            <a:r>
              <a:rPr sz="3300" spc="-155" dirty="0">
                <a:solidFill>
                  <a:srgbClr val="084885"/>
                </a:solidFill>
                <a:latin typeface="Arial MT"/>
                <a:cs typeface="Arial MT"/>
              </a:rPr>
              <a:t> </a:t>
            </a:r>
            <a:r>
              <a:rPr sz="3300" spc="-20" dirty="0">
                <a:solidFill>
                  <a:srgbClr val="053F79"/>
                </a:solidFill>
                <a:latin typeface="Arial MT"/>
                <a:cs typeface="Arial MT"/>
              </a:rPr>
              <a:t>ans.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33791" y="2262716"/>
            <a:ext cx="5312410" cy="16916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300" spc="80" dirty="0">
                <a:solidFill>
                  <a:srgbClr val="0A467B"/>
                </a:solidFill>
                <a:latin typeface="Trebuchet MS"/>
                <a:cs typeface="Trebuchet MS"/>
              </a:rPr>
              <a:t>Performance</a:t>
            </a:r>
            <a:r>
              <a:rPr sz="3300" spc="265" dirty="0">
                <a:solidFill>
                  <a:srgbClr val="0A467B"/>
                </a:solidFill>
                <a:latin typeface="Trebuchet MS"/>
                <a:cs typeface="Trebuchet MS"/>
              </a:rPr>
              <a:t> </a:t>
            </a:r>
            <a:r>
              <a:rPr sz="3300" spc="70" dirty="0">
                <a:solidFill>
                  <a:srgbClr val="0F4B87"/>
                </a:solidFill>
                <a:latin typeface="Trebuchet MS"/>
                <a:cs typeface="Trebuchet MS"/>
              </a:rPr>
              <a:t>Recrutement</a:t>
            </a:r>
            <a:endParaRPr sz="3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3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3650" spc="-355" dirty="0">
                <a:solidFill>
                  <a:srgbClr val="1D4464"/>
                </a:solidFill>
                <a:latin typeface="Trebuchet MS"/>
                <a:cs typeface="Trebuchet MS"/>
              </a:rPr>
              <a:t>Top</a:t>
            </a:r>
            <a:r>
              <a:rPr sz="3650" spc="-180" dirty="0">
                <a:solidFill>
                  <a:srgbClr val="1D4464"/>
                </a:solidFill>
                <a:latin typeface="Trebuchet MS"/>
                <a:cs typeface="Trebuchet MS"/>
              </a:rPr>
              <a:t> </a:t>
            </a:r>
            <a:r>
              <a:rPr sz="3650" spc="-160" dirty="0">
                <a:solidFill>
                  <a:srgbClr val="234469"/>
                </a:solidFill>
                <a:latin typeface="Trebuchet MS"/>
                <a:cs typeface="Trebuchet MS"/>
              </a:rPr>
              <a:t>3</a:t>
            </a:r>
            <a:r>
              <a:rPr sz="3650" spc="-315" dirty="0">
                <a:solidFill>
                  <a:srgbClr val="234469"/>
                </a:solidFill>
                <a:latin typeface="Trebuchet MS"/>
                <a:cs typeface="Trebuchet MS"/>
              </a:rPr>
              <a:t> </a:t>
            </a:r>
            <a:r>
              <a:rPr sz="3650" spc="-254" dirty="0">
                <a:solidFill>
                  <a:srgbClr val="1C466E"/>
                </a:solidFill>
                <a:latin typeface="Trebuchet MS"/>
                <a:cs typeface="Trebuchet MS"/>
              </a:rPr>
              <a:t>Sources</a:t>
            </a:r>
            <a:r>
              <a:rPr sz="3650" spc="-50" dirty="0">
                <a:solidFill>
                  <a:srgbClr val="1C466E"/>
                </a:solidFill>
                <a:latin typeface="Trebuchet MS"/>
                <a:cs typeface="Trebuchet MS"/>
              </a:rPr>
              <a:t> </a:t>
            </a:r>
            <a:r>
              <a:rPr sz="3650" spc="-300" dirty="0">
                <a:solidFill>
                  <a:srgbClr val="153B62"/>
                </a:solidFill>
                <a:latin typeface="Trebuchet MS"/>
                <a:cs typeface="Trebuchet MS"/>
              </a:rPr>
              <a:t>Digitales</a:t>
            </a:r>
            <a:endParaRPr sz="36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455535" y="8532989"/>
            <a:ext cx="528701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170" dirty="0">
                <a:solidFill>
                  <a:srgbClr val="1C3D59"/>
                </a:solidFill>
                <a:latin typeface="Trebuchet MS"/>
                <a:cs typeface="Trebuchet MS"/>
              </a:rPr>
              <a:t>Les</a:t>
            </a:r>
            <a:r>
              <a:rPr sz="2350" spc="-45" dirty="0">
                <a:solidFill>
                  <a:srgbClr val="1C3D59"/>
                </a:solidFill>
                <a:latin typeface="Trebuchet MS"/>
                <a:cs typeface="Trebuchet MS"/>
              </a:rPr>
              <a:t> </a:t>
            </a:r>
            <a:r>
              <a:rPr sz="2350" spc="-210" dirty="0">
                <a:solidFill>
                  <a:srgbClr val="8AA0B1"/>
                </a:solidFill>
                <a:latin typeface="Trebuchet MS"/>
                <a:cs typeface="Trebuchet MS"/>
              </a:rPr>
              <a:t>canaux</a:t>
            </a:r>
            <a:r>
              <a:rPr sz="2350" spc="-10" dirty="0">
                <a:solidFill>
                  <a:srgbClr val="8AA0B1"/>
                </a:solidFill>
                <a:latin typeface="Trebuchet MS"/>
                <a:cs typeface="Trebuchet MS"/>
              </a:rPr>
              <a:t> </a:t>
            </a:r>
            <a:r>
              <a:rPr sz="2350" spc="-210" dirty="0">
                <a:solidFill>
                  <a:srgbClr val="95ACC1"/>
                </a:solidFill>
                <a:latin typeface="Trebuchet MS"/>
                <a:cs typeface="Trebuchet MS"/>
              </a:rPr>
              <a:t>digitaux</a:t>
            </a:r>
            <a:r>
              <a:rPr sz="2350" spc="60" dirty="0">
                <a:solidFill>
                  <a:srgbClr val="95ACC1"/>
                </a:solidFill>
                <a:latin typeface="Trebuchet MS"/>
                <a:cs typeface="Trebuchet MS"/>
              </a:rPr>
              <a:t> </a:t>
            </a:r>
            <a:r>
              <a:rPr sz="2350" spc="-165" dirty="0">
                <a:solidFill>
                  <a:srgbClr val="2D4254"/>
                </a:solidFill>
                <a:latin typeface="Trebuchet MS"/>
                <a:cs typeface="Trebuchet MS"/>
              </a:rPr>
              <a:t>sont</a:t>
            </a:r>
            <a:r>
              <a:rPr sz="2350" spc="-105" dirty="0">
                <a:solidFill>
                  <a:srgbClr val="2D4254"/>
                </a:solidFill>
                <a:latin typeface="Trebuchet MS"/>
                <a:cs typeface="Trebuchet MS"/>
              </a:rPr>
              <a:t> </a:t>
            </a:r>
            <a:r>
              <a:rPr sz="2350" spc="-160" dirty="0">
                <a:solidFill>
                  <a:srgbClr val="314859"/>
                </a:solidFill>
                <a:latin typeface="Trebuchet MS"/>
                <a:cs typeface="Trebuchet MS"/>
              </a:rPr>
              <a:t>les</a:t>
            </a:r>
            <a:r>
              <a:rPr sz="2350" spc="-135" dirty="0">
                <a:solidFill>
                  <a:srgbClr val="314859"/>
                </a:solidFill>
                <a:latin typeface="Trebuchet MS"/>
                <a:cs typeface="Trebuchet MS"/>
              </a:rPr>
              <a:t> </a:t>
            </a:r>
            <a:r>
              <a:rPr sz="2350" spc="-150" dirty="0">
                <a:solidFill>
                  <a:srgbClr val="87939C"/>
                </a:solidFill>
                <a:latin typeface="Trebuchet MS"/>
                <a:cs typeface="Trebuchet MS"/>
              </a:rPr>
              <a:t>plus</a:t>
            </a:r>
            <a:r>
              <a:rPr sz="2350" spc="-80" dirty="0">
                <a:solidFill>
                  <a:srgbClr val="87939C"/>
                </a:solidFill>
                <a:latin typeface="Trebuchet MS"/>
                <a:cs typeface="Trebuchet MS"/>
              </a:rPr>
              <a:t> </a:t>
            </a:r>
            <a:r>
              <a:rPr sz="2350" spc="-170" dirty="0">
                <a:solidFill>
                  <a:srgbClr val="A8BCCA"/>
                </a:solidFill>
                <a:latin typeface="Trebuchet MS"/>
                <a:cs typeface="Trebuchet MS"/>
              </a:rPr>
              <a:t>performants.</a:t>
            </a:r>
            <a:endParaRPr sz="2350">
              <a:latin typeface="Trebuchet MS"/>
              <a:cs typeface="Trebuchet M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989C694-118A-199B-8CBD-29F3A2AA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350" y="4487418"/>
            <a:ext cx="7363567" cy="34922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1300" y="3276600"/>
            <a:ext cx="1257300" cy="1447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5600" y="3276600"/>
            <a:ext cx="1524000" cy="1447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6900" y="3276600"/>
            <a:ext cx="1524000" cy="1358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46500" y="1752600"/>
            <a:ext cx="50800" cy="73787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66723" y="448733"/>
            <a:ext cx="14881225" cy="850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400" spc="-30" dirty="0">
                <a:solidFill>
                  <a:srgbClr val="055290"/>
                </a:solidFill>
              </a:rPr>
              <a:t>Recommandations</a:t>
            </a:r>
            <a:r>
              <a:rPr sz="5400" spc="-430" dirty="0">
                <a:solidFill>
                  <a:srgbClr val="055290"/>
                </a:solidFill>
              </a:rPr>
              <a:t> </a:t>
            </a:r>
            <a:r>
              <a:rPr sz="5400" spc="-10" dirty="0">
                <a:solidFill>
                  <a:srgbClr val="015089"/>
                </a:solidFill>
              </a:rPr>
              <a:t>Stratégiques</a:t>
            </a:r>
            <a:r>
              <a:rPr sz="5400" spc="-365" dirty="0">
                <a:solidFill>
                  <a:srgbClr val="015089"/>
                </a:solidFill>
              </a:rPr>
              <a:t> </a:t>
            </a:r>
            <a:r>
              <a:rPr sz="5400" spc="-20" dirty="0">
                <a:solidFill>
                  <a:srgbClr val="07528A"/>
                </a:solidFill>
              </a:rPr>
              <a:t>(Business</a:t>
            </a:r>
            <a:r>
              <a:rPr sz="5400" spc="-215" dirty="0">
                <a:solidFill>
                  <a:srgbClr val="07528A"/>
                </a:solidFill>
              </a:rPr>
              <a:t> </a:t>
            </a:r>
            <a:r>
              <a:rPr sz="5400" spc="-60" dirty="0">
                <a:solidFill>
                  <a:srgbClr val="034F89"/>
                </a:solidFill>
              </a:rPr>
              <a:t>Value)</a:t>
            </a:r>
            <a:endParaRPr sz="5400"/>
          </a:p>
        </p:txBody>
      </p:sp>
      <p:sp>
        <p:nvSpPr>
          <p:cNvPr id="7" name="object 7"/>
          <p:cNvSpPr txBox="1"/>
          <p:nvPr/>
        </p:nvSpPr>
        <p:spPr>
          <a:xfrm>
            <a:off x="967316" y="1725083"/>
            <a:ext cx="4838700" cy="7710444"/>
          </a:xfrm>
          <a:prstGeom prst="rect">
            <a:avLst/>
          </a:prstGeom>
          <a:ln w="29633">
            <a:solidFill>
              <a:srgbClr val="184F80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1488440" marR="1317625" indent="-175260">
              <a:lnSpc>
                <a:spcPts val="4500"/>
              </a:lnSpc>
              <a:spcBef>
                <a:spcPts val="1465"/>
              </a:spcBef>
            </a:pPr>
            <a:r>
              <a:rPr sz="4300" spc="-130" dirty="0">
                <a:solidFill>
                  <a:srgbClr val="054D87"/>
                </a:solidFill>
                <a:latin typeface="Arial MT"/>
                <a:cs typeface="Arial MT"/>
              </a:rPr>
              <a:t>Rétention </a:t>
            </a:r>
            <a:r>
              <a:rPr sz="4300" spc="-50" dirty="0">
                <a:solidFill>
                  <a:srgbClr val="0A4F83"/>
                </a:solidFill>
                <a:latin typeface="Arial MT"/>
                <a:cs typeface="Arial MT"/>
              </a:rPr>
              <a:t>(Urgent)</a:t>
            </a:r>
            <a:endParaRPr sz="43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3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10"/>
              </a:spcBef>
            </a:pPr>
            <a:endParaRPr lang="fr-FR" sz="3200" dirty="0">
              <a:latin typeface="Arial MT"/>
              <a:cs typeface="Arial MT"/>
            </a:endParaRPr>
          </a:p>
          <a:p>
            <a:pPr marL="457200" indent="-457200">
              <a:lnSpc>
                <a:spcPct val="100000"/>
              </a:lnSpc>
              <a:spcBef>
                <a:spcPts val="4910"/>
              </a:spcBef>
              <a:buFont typeface="Arial" panose="020B0604020202020204" pitchFamily="34" charset="0"/>
              <a:buChar char="•"/>
            </a:pPr>
            <a:r>
              <a:rPr lang="fr-FR" sz="2800" dirty="0">
                <a:latin typeface="Arial MT"/>
                <a:cs typeface="Arial MT"/>
              </a:rPr>
              <a:t>Lancer des Exit Interviews pour le département Production. </a:t>
            </a:r>
          </a:p>
          <a:p>
            <a:pPr marL="457200" indent="-457200">
              <a:lnSpc>
                <a:spcPct val="100000"/>
              </a:lnSpc>
              <a:spcBef>
                <a:spcPts val="4910"/>
              </a:spcBef>
              <a:buFont typeface="Arial" panose="020B0604020202020204" pitchFamily="34" charset="0"/>
              <a:buChar char="•"/>
            </a:pPr>
            <a:r>
              <a:rPr lang="fr-FR" sz="2800" dirty="0">
                <a:latin typeface="Arial MT"/>
                <a:cs typeface="Arial MT"/>
              </a:rPr>
              <a:t>Comprendre les causes racines du taux de 33%.</a:t>
            </a:r>
          </a:p>
          <a:p>
            <a:pPr>
              <a:lnSpc>
                <a:spcPct val="100000"/>
              </a:lnSpc>
              <a:spcBef>
                <a:spcPts val="4910"/>
              </a:spcBef>
            </a:pPr>
            <a:endParaRPr sz="3550" spc="-204" dirty="0">
              <a:solidFill>
                <a:srgbClr val="0C3156"/>
              </a:solidFill>
              <a:latin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1316" y="1725083"/>
            <a:ext cx="4826000" cy="6892271"/>
          </a:xfrm>
          <a:prstGeom prst="rect">
            <a:avLst/>
          </a:prstGeom>
          <a:ln w="21166">
            <a:solidFill>
              <a:srgbClr val="1C547C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687070" marR="675005" indent="365125">
              <a:lnSpc>
                <a:spcPts val="4500"/>
              </a:lnSpc>
              <a:spcBef>
                <a:spcPts val="1465"/>
              </a:spcBef>
            </a:pPr>
            <a:r>
              <a:rPr sz="4450" spc="-50" dirty="0">
                <a:solidFill>
                  <a:srgbClr val="014B87"/>
                </a:solidFill>
                <a:latin typeface="Arial MT"/>
                <a:cs typeface="Arial MT"/>
              </a:rPr>
              <a:t>Anticipation </a:t>
            </a:r>
            <a:r>
              <a:rPr sz="4450" spc="-280" dirty="0">
                <a:solidFill>
                  <a:srgbClr val="084D85"/>
                </a:solidFill>
                <a:latin typeface="Arial MT"/>
                <a:cs typeface="Arial MT"/>
              </a:rPr>
              <a:t>(Moyen</a:t>
            </a:r>
            <a:r>
              <a:rPr sz="4450" spc="-85" dirty="0">
                <a:solidFill>
                  <a:srgbClr val="084D85"/>
                </a:solidFill>
                <a:latin typeface="Arial MT"/>
                <a:cs typeface="Arial MT"/>
              </a:rPr>
              <a:t> </a:t>
            </a:r>
            <a:r>
              <a:rPr sz="4450" spc="-305" dirty="0">
                <a:solidFill>
                  <a:srgbClr val="034B82"/>
                </a:solidFill>
                <a:latin typeface="Arial MT"/>
                <a:cs typeface="Arial MT"/>
              </a:rPr>
              <a:t>Terme)</a:t>
            </a:r>
            <a:endParaRPr sz="44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lang="en-US" sz="44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450" dirty="0">
              <a:latin typeface="Arial MT"/>
              <a:cs typeface="Arial MT"/>
            </a:endParaRPr>
          </a:p>
          <a:p>
            <a:pPr marL="457200" indent="-457200">
              <a:spcBef>
                <a:spcPts val="491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 MT"/>
              </a:rPr>
              <a:t>Programme</a:t>
            </a:r>
            <a:r>
              <a:rPr lang="en-US" sz="2800" dirty="0">
                <a:latin typeface="Arial MT"/>
              </a:rPr>
              <a:t> </a:t>
            </a:r>
            <a:r>
              <a:rPr lang="en-US" sz="2800" dirty="0" err="1">
                <a:latin typeface="Arial MT"/>
              </a:rPr>
              <a:t>Mentorat</a:t>
            </a:r>
            <a:r>
              <a:rPr lang="en-US" sz="2800" dirty="0">
                <a:latin typeface="Arial MT"/>
              </a:rPr>
              <a:t> Senior-junior.</a:t>
            </a:r>
            <a:r>
              <a:rPr lang="fr-FR" sz="2800" dirty="0">
                <a:latin typeface="Arial MT"/>
              </a:rPr>
              <a:t> </a:t>
            </a:r>
          </a:p>
          <a:p>
            <a:pPr marL="457200" indent="-457200">
              <a:spcBef>
                <a:spcPts val="4910"/>
              </a:spcBef>
              <a:buFont typeface="Arial" panose="020B0604020202020204" pitchFamily="34" charset="0"/>
              <a:buChar char="•"/>
            </a:pPr>
            <a:r>
              <a:rPr lang="fr-FR" sz="2800" dirty="0">
                <a:latin typeface="Arial MT"/>
              </a:rPr>
              <a:t>Assurer le transfert de compétences avant la vague de retraites.</a:t>
            </a:r>
            <a:endParaRPr sz="2800" dirty="0">
              <a:latin typeface="Arial MT"/>
            </a:endParaRPr>
          </a:p>
          <a:p>
            <a:pPr marL="398145" marR="998219" algn="just">
              <a:lnSpc>
                <a:spcPts val="3979"/>
              </a:lnSpc>
              <a:spcBef>
                <a:spcPts val="1985"/>
              </a:spcBef>
              <a:tabLst>
                <a:tab pos="805815" algn="l"/>
                <a:tab pos="819150" algn="l"/>
              </a:tabLst>
            </a:pPr>
            <a:endParaRPr lang="en-US" sz="3550" spc="-204" dirty="0">
              <a:solidFill>
                <a:srgbClr val="0C3156"/>
              </a:solidFill>
              <a:latin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22616" y="1712383"/>
            <a:ext cx="4826000" cy="7200048"/>
          </a:xfrm>
          <a:prstGeom prst="rect">
            <a:avLst/>
          </a:prstGeom>
          <a:ln w="21166">
            <a:solidFill>
              <a:srgbClr val="185480"/>
            </a:solidFill>
          </a:ln>
        </p:spPr>
        <p:txBody>
          <a:bodyPr vert="horz" wrap="square" lIns="0" tIns="198755" rIns="0" bIns="0" rtlCol="0">
            <a:spAutoFit/>
          </a:bodyPr>
          <a:lstStyle/>
          <a:p>
            <a:pPr marL="1436370" marR="971550" indent="-476250">
              <a:lnSpc>
                <a:spcPts val="4500"/>
              </a:lnSpc>
              <a:spcBef>
                <a:spcPts val="1565"/>
              </a:spcBef>
            </a:pPr>
            <a:r>
              <a:rPr sz="4450" spc="-180" dirty="0">
                <a:solidFill>
                  <a:srgbClr val="07508E"/>
                </a:solidFill>
                <a:latin typeface="Arial MT"/>
                <a:cs typeface="Arial MT"/>
              </a:rPr>
              <a:t>Optimisation </a:t>
            </a:r>
            <a:r>
              <a:rPr sz="4450" spc="-110" dirty="0">
                <a:solidFill>
                  <a:srgbClr val="084D85"/>
                </a:solidFill>
                <a:latin typeface="Arial MT"/>
                <a:cs typeface="Arial MT"/>
              </a:rPr>
              <a:t>(Budget)</a:t>
            </a:r>
            <a:endParaRPr sz="44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4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10"/>
              </a:spcBef>
            </a:pPr>
            <a:endParaRPr lang="fr-FR" sz="3200" dirty="0">
              <a:latin typeface="Arial MT"/>
            </a:endParaRPr>
          </a:p>
          <a:p>
            <a:pPr marL="457200" indent="-457200">
              <a:lnSpc>
                <a:spcPct val="100000"/>
              </a:lnSpc>
              <a:spcBef>
                <a:spcPts val="4910"/>
              </a:spcBef>
              <a:buFont typeface="Arial" panose="020B0604020202020204" pitchFamily="34" charset="0"/>
              <a:buChar char="•"/>
            </a:pPr>
            <a:r>
              <a:rPr lang="fr-FR" sz="2800" dirty="0">
                <a:latin typeface="Arial MT"/>
              </a:rPr>
              <a:t>Réallocation 	budgétaire</a:t>
            </a:r>
          </a:p>
          <a:p>
            <a:pPr marL="457200" indent="-457200">
              <a:lnSpc>
                <a:spcPct val="100000"/>
              </a:lnSpc>
              <a:spcBef>
                <a:spcPts val="4910"/>
              </a:spcBef>
              <a:buFont typeface="Arial" panose="020B0604020202020204" pitchFamily="34" charset="0"/>
              <a:buChar char="•"/>
            </a:pPr>
            <a:r>
              <a:rPr lang="fr-FR" sz="2800" dirty="0">
                <a:latin typeface="Arial MT"/>
              </a:rPr>
              <a:t>Stopper les canaux 	inefficaces. </a:t>
            </a:r>
          </a:p>
          <a:p>
            <a:pPr marL="457200" indent="-457200">
              <a:lnSpc>
                <a:spcPct val="100000"/>
              </a:lnSpc>
              <a:spcBef>
                <a:spcPts val="4910"/>
              </a:spcBef>
              <a:buFont typeface="Arial" panose="020B0604020202020204" pitchFamily="34" charset="0"/>
              <a:buChar char="•"/>
            </a:pPr>
            <a:r>
              <a:rPr lang="fr-FR" sz="2800" dirty="0">
                <a:latin typeface="Arial MT"/>
              </a:rPr>
              <a:t>Investir 100% sur Indeed, </a:t>
            </a:r>
            <a:r>
              <a:rPr lang="fr-FR" sz="2800" dirty="0" err="1">
                <a:latin typeface="Arial MT"/>
              </a:rPr>
              <a:t>Linkedln</a:t>
            </a:r>
            <a:r>
              <a:rPr lang="fr-FR" sz="2800" dirty="0">
                <a:latin typeface="Arial MT"/>
              </a:rPr>
              <a:t> et Google.</a:t>
            </a:r>
            <a:endParaRPr lang="en-US" sz="2800" dirty="0">
              <a:latin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" y="5803900"/>
            <a:ext cx="800100" cy="749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3500" y="5181600"/>
            <a:ext cx="14554200" cy="25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0800" y="3721100"/>
            <a:ext cx="825500" cy="622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3500" y="2298700"/>
            <a:ext cx="812800" cy="635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6988" rIns="0" bIns="0" rtlCol="0">
            <a:spAutoFit/>
          </a:bodyPr>
          <a:lstStyle/>
          <a:p>
            <a:pPr marL="2589530">
              <a:lnSpc>
                <a:spcPct val="100000"/>
              </a:lnSpc>
              <a:spcBef>
                <a:spcPts val="90"/>
              </a:spcBef>
            </a:pPr>
            <a:r>
              <a:rPr spc="-110" dirty="0"/>
              <a:t>Conclusion</a:t>
            </a:r>
            <a:r>
              <a:rPr spc="-245" dirty="0"/>
              <a:t> </a:t>
            </a:r>
            <a:r>
              <a:rPr dirty="0">
                <a:solidFill>
                  <a:srgbClr val="014B8A"/>
                </a:solidFill>
              </a:rPr>
              <a:t>et</a:t>
            </a:r>
            <a:r>
              <a:rPr spc="-360" dirty="0">
                <a:solidFill>
                  <a:srgbClr val="014B8A"/>
                </a:solidFill>
              </a:rPr>
              <a:t> </a:t>
            </a:r>
            <a:r>
              <a:rPr spc="-25" dirty="0">
                <a:solidFill>
                  <a:srgbClr val="00549C"/>
                </a:solidFill>
              </a:rPr>
              <a:t>Apports</a:t>
            </a:r>
            <a:r>
              <a:rPr spc="-160" dirty="0">
                <a:solidFill>
                  <a:srgbClr val="00549C"/>
                </a:solidFill>
              </a:rPr>
              <a:t> </a:t>
            </a:r>
            <a:r>
              <a:rPr spc="-110" dirty="0">
                <a:solidFill>
                  <a:srgbClr val="004D8E"/>
                </a:solidFill>
              </a:rPr>
              <a:t>du</a:t>
            </a:r>
            <a:r>
              <a:rPr spc="-430" dirty="0">
                <a:solidFill>
                  <a:srgbClr val="004D8E"/>
                </a:solidFill>
              </a:rPr>
              <a:t> </a:t>
            </a:r>
            <a:r>
              <a:rPr spc="-10" dirty="0">
                <a:solidFill>
                  <a:srgbClr val="014B8E"/>
                </a:solidFill>
              </a:rPr>
              <a:t>Projet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940435" indent="635">
              <a:lnSpc>
                <a:spcPts val="4300"/>
              </a:lnSpc>
              <a:spcBef>
                <a:spcPts val="545"/>
              </a:spcBef>
              <a:tabLst>
                <a:tab pos="3328670" algn="l"/>
                <a:tab pos="7695565" algn="l"/>
              </a:tabLst>
            </a:pPr>
            <a:r>
              <a:rPr spc="-10" dirty="0">
                <a:solidFill>
                  <a:srgbClr val="014B89"/>
                </a:solidFill>
              </a:rPr>
              <a:t>Apport</a:t>
            </a:r>
            <a:r>
              <a:rPr spc="-260" dirty="0">
                <a:solidFill>
                  <a:srgbClr val="014B89"/>
                </a:solidFill>
              </a:rPr>
              <a:t> </a:t>
            </a:r>
            <a:r>
              <a:rPr spc="-105" dirty="0">
                <a:solidFill>
                  <a:srgbClr val="0A5285"/>
                </a:solidFill>
              </a:rPr>
              <a:t>Technique</a:t>
            </a:r>
            <a:r>
              <a:rPr spc="-165" dirty="0">
                <a:solidFill>
                  <a:srgbClr val="0A5285"/>
                </a:solidFill>
              </a:rPr>
              <a:t> </a:t>
            </a:r>
            <a:r>
              <a:rPr dirty="0">
                <a:solidFill>
                  <a:srgbClr val="084672"/>
                </a:solidFill>
              </a:rPr>
              <a:t>:</a:t>
            </a:r>
            <a:r>
              <a:rPr spc="-204" dirty="0">
                <a:solidFill>
                  <a:srgbClr val="084672"/>
                </a:solidFill>
              </a:rPr>
              <a:t> </a:t>
            </a:r>
            <a:r>
              <a:rPr spc="-80" dirty="0">
                <a:solidFill>
                  <a:srgbClr val="161616"/>
                </a:solidFill>
              </a:rPr>
              <a:t>Maîtrise</a:t>
            </a:r>
            <a:r>
              <a:rPr spc="-25" dirty="0">
                <a:solidFill>
                  <a:srgbClr val="161616"/>
                </a:solidFill>
              </a:rPr>
              <a:t> </a:t>
            </a:r>
            <a:r>
              <a:rPr spc="-105" dirty="0">
                <a:solidFill>
                  <a:srgbClr val="2A2A2A"/>
                </a:solidFill>
              </a:rPr>
              <a:t>de</a:t>
            </a:r>
            <a:r>
              <a:rPr spc="-170" dirty="0">
                <a:solidFill>
                  <a:srgbClr val="2A2A2A"/>
                </a:solidFill>
              </a:rPr>
              <a:t> </a:t>
            </a:r>
            <a:r>
              <a:rPr spc="-110" dirty="0">
                <a:solidFill>
                  <a:srgbClr val="1C1C1C"/>
                </a:solidFill>
              </a:rPr>
              <a:t>la</a:t>
            </a:r>
            <a:r>
              <a:rPr spc="-155" dirty="0">
                <a:solidFill>
                  <a:srgbClr val="1C1C1C"/>
                </a:solidFill>
              </a:rPr>
              <a:t> </a:t>
            </a:r>
            <a:r>
              <a:rPr spc="-85" dirty="0"/>
              <a:t>chaîne</a:t>
            </a:r>
            <a:r>
              <a:rPr spc="-180" dirty="0"/>
              <a:t> </a:t>
            </a:r>
            <a:r>
              <a:rPr spc="-114" dirty="0">
                <a:solidFill>
                  <a:srgbClr val="262626"/>
                </a:solidFill>
              </a:rPr>
              <a:t>BI</a:t>
            </a:r>
            <a:r>
              <a:rPr spc="-190" dirty="0">
                <a:solidFill>
                  <a:srgbClr val="262626"/>
                </a:solidFill>
              </a:rPr>
              <a:t> </a:t>
            </a:r>
            <a:r>
              <a:rPr spc="-35" dirty="0">
                <a:solidFill>
                  <a:srgbClr val="1A1A1A"/>
                </a:solidFill>
              </a:rPr>
              <a:t>complète</a:t>
            </a:r>
            <a:r>
              <a:rPr spc="-110" dirty="0">
                <a:solidFill>
                  <a:srgbClr val="1A1A1A"/>
                </a:solidFill>
              </a:rPr>
              <a:t> </a:t>
            </a:r>
            <a:r>
              <a:rPr spc="-280" dirty="0"/>
              <a:t>(ETL </a:t>
            </a:r>
            <a:r>
              <a:rPr spc="-120" dirty="0">
                <a:solidFill>
                  <a:srgbClr val="262626"/>
                </a:solidFill>
              </a:rPr>
              <a:t>Power</a:t>
            </a:r>
            <a:r>
              <a:rPr spc="-95" dirty="0">
                <a:solidFill>
                  <a:srgbClr val="262626"/>
                </a:solidFill>
              </a:rPr>
              <a:t> </a:t>
            </a:r>
            <a:r>
              <a:rPr spc="-240" dirty="0">
                <a:solidFill>
                  <a:srgbClr val="282828"/>
                </a:solidFill>
              </a:rPr>
              <a:t>Query</a:t>
            </a:r>
            <a:r>
              <a:rPr spc="-600" dirty="0">
                <a:solidFill>
                  <a:srgbClr val="282828"/>
                </a:solidFill>
              </a:rPr>
              <a:t> </a:t>
            </a:r>
            <a:r>
              <a:rPr spc="160" dirty="0">
                <a:solidFill>
                  <a:srgbClr val="484848"/>
                </a:solidFill>
              </a:rPr>
              <a:t>4</a:t>
            </a:r>
            <a:r>
              <a:rPr dirty="0">
                <a:solidFill>
                  <a:srgbClr val="484848"/>
                </a:solidFill>
              </a:rPr>
              <a:t>	</a:t>
            </a:r>
            <a:r>
              <a:rPr spc="-45" dirty="0"/>
              <a:t>Modélisation</a:t>
            </a:r>
            <a:r>
              <a:rPr spc="-190" dirty="0"/>
              <a:t> </a:t>
            </a:r>
            <a:r>
              <a:rPr spc="-375" dirty="0">
                <a:solidFill>
                  <a:srgbClr val="2A2A2A"/>
                </a:solidFill>
              </a:rPr>
              <a:t>DAX</a:t>
            </a:r>
            <a:r>
              <a:rPr spc="-425" dirty="0">
                <a:solidFill>
                  <a:srgbClr val="2A2A2A"/>
                </a:solidFill>
              </a:rPr>
              <a:t> </a:t>
            </a:r>
            <a:r>
              <a:rPr spc="160" dirty="0">
                <a:solidFill>
                  <a:srgbClr val="464646"/>
                </a:solidFill>
              </a:rPr>
              <a:t>4</a:t>
            </a:r>
            <a:r>
              <a:rPr dirty="0">
                <a:solidFill>
                  <a:srgbClr val="464646"/>
                </a:solidFill>
              </a:rPr>
              <a:t>	</a:t>
            </a:r>
            <a:r>
              <a:rPr spc="-204" dirty="0">
                <a:solidFill>
                  <a:srgbClr val="1C1C1C"/>
                </a:solidFill>
              </a:rPr>
              <a:t>Data</a:t>
            </a:r>
            <a:r>
              <a:rPr spc="-50" dirty="0">
                <a:solidFill>
                  <a:srgbClr val="1C1C1C"/>
                </a:solidFill>
              </a:rPr>
              <a:t> </a:t>
            </a:r>
            <a:r>
              <a:rPr spc="-10" dirty="0">
                <a:solidFill>
                  <a:srgbClr val="212121"/>
                </a:solidFill>
              </a:rPr>
              <a:t>Storytelling).</a:t>
            </a:r>
          </a:p>
          <a:p>
            <a:pPr marL="19050" marR="5080" indent="6350">
              <a:lnSpc>
                <a:spcPts val="4250"/>
              </a:lnSpc>
              <a:spcBef>
                <a:spcPts val="2640"/>
              </a:spcBef>
            </a:pPr>
            <a:r>
              <a:rPr spc="-20" dirty="0">
                <a:solidFill>
                  <a:srgbClr val="005093"/>
                </a:solidFill>
              </a:rPr>
              <a:t>Apport</a:t>
            </a:r>
            <a:r>
              <a:rPr spc="-250" dirty="0">
                <a:solidFill>
                  <a:srgbClr val="005093"/>
                </a:solidFill>
              </a:rPr>
              <a:t> </a:t>
            </a:r>
            <a:r>
              <a:rPr spc="-60" dirty="0">
                <a:solidFill>
                  <a:srgbClr val="084F85"/>
                </a:solidFill>
              </a:rPr>
              <a:t>Fonctionnel</a:t>
            </a:r>
            <a:r>
              <a:rPr spc="-210" dirty="0">
                <a:solidFill>
                  <a:srgbClr val="084F85"/>
                </a:solidFill>
              </a:rPr>
              <a:t> </a:t>
            </a:r>
            <a:r>
              <a:rPr dirty="0">
                <a:solidFill>
                  <a:srgbClr val="0F5287"/>
                </a:solidFill>
              </a:rPr>
              <a:t>:</a:t>
            </a:r>
            <a:r>
              <a:rPr spc="-270" dirty="0">
                <a:solidFill>
                  <a:srgbClr val="0F5287"/>
                </a:solidFill>
              </a:rPr>
              <a:t> </a:t>
            </a:r>
            <a:r>
              <a:rPr spc="-55" dirty="0"/>
              <a:t>Transition</a:t>
            </a:r>
            <a:r>
              <a:rPr spc="-114" dirty="0"/>
              <a:t> </a:t>
            </a:r>
            <a:r>
              <a:rPr spc="-105" dirty="0">
                <a:solidFill>
                  <a:srgbClr val="232323"/>
                </a:solidFill>
              </a:rPr>
              <a:t>d'une</a:t>
            </a:r>
            <a:r>
              <a:rPr spc="-165" dirty="0">
                <a:solidFill>
                  <a:srgbClr val="232323"/>
                </a:solidFill>
              </a:rPr>
              <a:t> </a:t>
            </a:r>
            <a:r>
              <a:rPr spc="-40" dirty="0">
                <a:solidFill>
                  <a:srgbClr val="212121"/>
                </a:solidFill>
              </a:rPr>
              <a:t>gestion</a:t>
            </a:r>
            <a:r>
              <a:rPr spc="-135" dirty="0">
                <a:solidFill>
                  <a:srgbClr val="212121"/>
                </a:solidFill>
              </a:rPr>
              <a:t> </a:t>
            </a:r>
            <a:r>
              <a:rPr spc="-420" dirty="0">
                <a:solidFill>
                  <a:srgbClr val="232323"/>
                </a:solidFill>
              </a:rPr>
              <a:t>RH</a:t>
            </a:r>
            <a:r>
              <a:rPr spc="-25" dirty="0">
                <a:solidFill>
                  <a:srgbClr val="232323"/>
                </a:solidFill>
              </a:rPr>
              <a:t> </a:t>
            </a:r>
            <a:r>
              <a:rPr spc="-35" dirty="0">
                <a:solidFill>
                  <a:srgbClr val="1D1D1D"/>
                </a:solidFill>
              </a:rPr>
              <a:t>‘Intuitive’</a:t>
            </a:r>
            <a:r>
              <a:rPr spc="-125" dirty="0">
                <a:solidFill>
                  <a:srgbClr val="1D1D1D"/>
                </a:solidFill>
              </a:rPr>
              <a:t> </a:t>
            </a:r>
            <a:r>
              <a:rPr spc="-125" dirty="0">
                <a:solidFill>
                  <a:srgbClr val="232323"/>
                </a:solidFill>
              </a:rPr>
              <a:t>vers </a:t>
            </a:r>
            <a:r>
              <a:rPr spc="-175" dirty="0">
                <a:solidFill>
                  <a:srgbClr val="262626"/>
                </a:solidFill>
              </a:rPr>
              <a:t>une</a:t>
            </a:r>
            <a:r>
              <a:rPr spc="-85" dirty="0">
                <a:solidFill>
                  <a:srgbClr val="262626"/>
                </a:solidFill>
              </a:rPr>
              <a:t> </a:t>
            </a:r>
            <a:r>
              <a:rPr spc="-55" dirty="0">
                <a:solidFill>
                  <a:srgbClr val="212121"/>
                </a:solidFill>
              </a:rPr>
              <a:t>culture</a:t>
            </a:r>
            <a:r>
              <a:rPr spc="-114" dirty="0">
                <a:solidFill>
                  <a:srgbClr val="212121"/>
                </a:solidFill>
              </a:rPr>
              <a:t> </a:t>
            </a:r>
            <a:r>
              <a:rPr spc="-165" dirty="0">
                <a:solidFill>
                  <a:srgbClr val="1C1C1C"/>
                </a:solidFill>
              </a:rPr>
              <a:t>‘Data-</a:t>
            </a:r>
            <a:r>
              <a:rPr spc="-10" dirty="0">
                <a:solidFill>
                  <a:srgbClr val="1C1C1C"/>
                </a:solidFill>
              </a:rPr>
              <a:t>Driven’.</a:t>
            </a:r>
          </a:p>
          <a:p>
            <a:pPr>
              <a:lnSpc>
                <a:spcPct val="100000"/>
              </a:lnSpc>
              <a:spcBef>
                <a:spcPts val="2935"/>
              </a:spcBef>
            </a:pPr>
            <a:endParaRPr spc="-10" dirty="0">
              <a:solidFill>
                <a:srgbClr val="1C1C1C"/>
              </a:solidFill>
            </a:endParaRPr>
          </a:p>
          <a:p>
            <a:pPr marL="38735" marR="671830" indent="-2540">
              <a:lnSpc>
                <a:spcPts val="4300"/>
              </a:lnSpc>
            </a:pPr>
            <a:r>
              <a:rPr sz="4000" spc="-150" dirty="0">
                <a:solidFill>
                  <a:srgbClr val="034D8E"/>
                </a:solidFill>
              </a:rPr>
              <a:t>Perspectives</a:t>
            </a:r>
            <a:r>
              <a:rPr sz="4000" spc="-130" dirty="0">
                <a:solidFill>
                  <a:srgbClr val="034D8E"/>
                </a:solidFill>
              </a:rPr>
              <a:t> </a:t>
            </a:r>
            <a:r>
              <a:rPr sz="4000" spc="-180" dirty="0">
                <a:solidFill>
                  <a:srgbClr val="014987"/>
                </a:solidFill>
              </a:rPr>
              <a:t>Futures</a:t>
            </a:r>
            <a:r>
              <a:rPr sz="4000" spc="-175" dirty="0">
                <a:solidFill>
                  <a:srgbClr val="014987"/>
                </a:solidFill>
              </a:rPr>
              <a:t> </a:t>
            </a:r>
            <a:r>
              <a:rPr sz="4000" dirty="0">
                <a:solidFill>
                  <a:srgbClr val="165480"/>
                </a:solidFill>
              </a:rPr>
              <a:t>:</a:t>
            </a:r>
            <a:r>
              <a:rPr sz="4000" spc="-280" dirty="0">
                <a:solidFill>
                  <a:srgbClr val="165480"/>
                </a:solidFill>
              </a:rPr>
              <a:t> </a:t>
            </a:r>
            <a:r>
              <a:rPr sz="4000" spc="-135" dirty="0">
                <a:solidFill>
                  <a:srgbClr val="111111"/>
                </a:solidFill>
              </a:rPr>
              <a:t>Intégration</a:t>
            </a:r>
            <a:r>
              <a:rPr sz="4000" spc="-15" dirty="0">
                <a:solidFill>
                  <a:srgbClr val="111111"/>
                </a:solidFill>
              </a:rPr>
              <a:t> </a:t>
            </a:r>
            <a:r>
              <a:rPr sz="4000" spc="-254" dirty="0">
                <a:solidFill>
                  <a:srgbClr val="181818"/>
                </a:solidFill>
              </a:rPr>
              <a:t>de</a:t>
            </a:r>
            <a:r>
              <a:rPr sz="4000" spc="-229" dirty="0">
                <a:solidFill>
                  <a:srgbClr val="181818"/>
                </a:solidFill>
              </a:rPr>
              <a:t> </a:t>
            </a:r>
            <a:r>
              <a:rPr sz="4000" spc="-160" dirty="0">
                <a:solidFill>
                  <a:srgbClr val="111111"/>
                </a:solidFill>
              </a:rPr>
              <a:t>modèles</a:t>
            </a:r>
            <a:r>
              <a:rPr sz="4000" spc="25" dirty="0">
                <a:solidFill>
                  <a:srgbClr val="111111"/>
                </a:solidFill>
              </a:rPr>
              <a:t> </a:t>
            </a:r>
            <a:r>
              <a:rPr sz="4000" spc="-295" dirty="0">
                <a:solidFill>
                  <a:srgbClr val="151515"/>
                </a:solidFill>
              </a:rPr>
              <a:t>de</a:t>
            </a:r>
            <a:r>
              <a:rPr sz="4000" spc="-170" dirty="0">
                <a:solidFill>
                  <a:srgbClr val="151515"/>
                </a:solidFill>
              </a:rPr>
              <a:t> </a:t>
            </a:r>
            <a:r>
              <a:rPr sz="4000" spc="-10" dirty="0">
                <a:solidFill>
                  <a:srgbClr val="0A0A0A"/>
                </a:solidFill>
              </a:rPr>
              <a:t>Machine </a:t>
            </a:r>
            <a:r>
              <a:rPr sz="4000" spc="-200" dirty="0">
                <a:solidFill>
                  <a:srgbClr val="000000"/>
                </a:solidFill>
              </a:rPr>
              <a:t>Learning</a:t>
            </a:r>
            <a:r>
              <a:rPr sz="4000" spc="-80" dirty="0">
                <a:solidFill>
                  <a:srgbClr val="000000"/>
                </a:solidFill>
              </a:rPr>
              <a:t> </a:t>
            </a:r>
            <a:r>
              <a:rPr sz="4000" spc="-35" dirty="0">
                <a:solidFill>
                  <a:srgbClr val="000000"/>
                </a:solidFill>
              </a:rPr>
              <a:t>(Pyhon)</a:t>
            </a:r>
            <a:r>
              <a:rPr sz="4000" spc="-245" dirty="0">
                <a:solidFill>
                  <a:srgbClr val="000000"/>
                </a:solidFill>
              </a:rPr>
              <a:t> </a:t>
            </a:r>
            <a:r>
              <a:rPr sz="4000" spc="-170" dirty="0">
                <a:solidFill>
                  <a:srgbClr val="0C0C0C"/>
                </a:solidFill>
              </a:rPr>
              <a:t>pour</a:t>
            </a:r>
            <a:r>
              <a:rPr sz="4000" spc="-105" dirty="0">
                <a:solidFill>
                  <a:srgbClr val="0C0C0C"/>
                </a:solidFill>
              </a:rPr>
              <a:t> </a:t>
            </a:r>
            <a:r>
              <a:rPr sz="4000" spc="-185" dirty="0">
                <a:solidFill>
                  <a:srgbClr val="000000"/>
                </a:solidFill>
              </a:rPr>
              <a:t>prédire</a:t>
            </a:r>
            <a:r>
              <a:rPr sz="4000" spc="-90" dirty="0">
                <a:solidFill>
                  <a:srgbClr val="000000"/>
                </a:solidFill>
              </a:rPr>
              <a:t> </a:t>
            </a:r>
            <a:r>
              <a:rPr sz="4000" spc="-165" dirty="0">
                <a:solidFill>
                  <a:srgbClr val="0E0E0E"/>
                </a:solidFill>
              </a:rPr>
              <a:t>le</a:t>
            </a:r>
            <a:r>
              <a:rPr sz="4000" spc="-240" dirty="0">
                <a:solidFill>
                  <a:srgbClr val="0E0E0E"/>
                </a:solidFill>
              </a:rPr>
              <a:t> </a:t>
            </a:r>
            <a:r>
              <a:rPr sz="4000" spc="-160" dirty="0">
                <a:solidFill>
                  <a:srgbClr val="151515"/>
                </a:solidFill>
              </a:rPr>
              <a:t>risque</a:t>
            </a:r>
            <a:r>
              <a:rPr sz="4000" spc="-114" dirty="0">
                <a:solidFill>
                  <a:srgbClr val="151515"/>
                </a:solidFill>
              </a:rPr>
              <a:t> </a:t>
            </a:r>
            <a:r>
              <a:rPr sz="4000" spc="-254" dirty="0">
                <a:solidFill>
                  <a:srgbClr val="131313"/>
                </a:solidFill>
              </a:rPr>
              <a:t>de</a:t>
            </a:r>
            <a:r>
              <a:rPr sz="4000" spc="-100" dirty="0">
                <a:solidFill>
                  <a:srgbClr val="131313"/>
                </a:solidFill>
              </a:rPr>
              <a:t> </a:t>
            </a:r>
            <a:r>
              <a:rPr sz="4000" spc="-155" dirty="0">
                <a:solidFill>
                  <a:srgbClr val="0F0F0F"/>
                </a:solidFill>
              </a:rPr>
              <a:t>démission</a:t>
            </a:r>
            <a:r>
              <a:rPr sz="4000" spc="35" dirty="0">
                <a:solidFill>
                  <a:srgbClr val="0F0F0F"/>
                </a:solidFill>
              </a:rPr>
              <a:t> </a:t>
            </a:r>
            <a:r>
              <a:rPr sz="4000" spc="-110" dirty="0">
                <a:solidFill>
                  <a:srgbClr val="111111"/>
                </a:solidFill>
              </a:rPr>
              <a:t>avant </a:t>
            </a:r>
            <a:r>
              <a:rPr sz="3950" spc="-45" dirty="0">
                <a:solidFill>
                  <a:srgbClr val="0F0F0F"/>
                </a:solidFill>
              </a:rPr>
              <a:t>qu'il</a:t>
            </a:r>
            <a:r>
              <a:rPr sz="3950" spc="-220" dirty="0">
                <a:solidFill>
                  <a:srgbClr val="0F0F0F"/>
                </a:solidFill>
              </a:rPr>
              <a:t> </a:t>
            </a:r>
            <a:r>
              <a:rPr sz="3950" spc="-250" dirty="0">
                <a:solidFill>
                  <a:srgbClr val="0C0C0C"/>
                </a:solidFill>
              </a:rPr>
              <a:t>ne</a:t>
            </a:r>
            <a:r>
              <a:rPr sz="3950" spc="-80" dirty="0">
                <a:solidFill>
                  <a:srgbClr val="0C0C0C"/>
                </a:solidFill>
              </a:rPr>
              <a:t> </a:t>
            </a:r>
            <a:r>
              <a:rPr sz="3950" spc="-95" dirty="0">
                <a:solidFill>
                  <a:srgbClr val="0F0F0F"/>
                </a:solidFill>
              </a:rPr>
              <a:t>survienne.</a:t>
            </a:r>
            <a:endParaRPr sz="3950" dirty="0"/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4000" dirty="0"/>
          </a:p>
          <a:p>
            <a:pPr marR="499109" algn="ctr">
              <a:lnSpc>
                <a:spcPct val="100000"/>
              </a:lnSpc>
            </a:pPr>
            <a:r>
              <a:rPr sz="5450" spc="-65" dirty="0">
                <a:solidFill>
                  <a:srgbClr val="000000"/>
                </a:solidFill>
              </a:rPr>
              <a:t>Merci</a:t>
            </a:r>
            <a:r>
              <a:rPr sz="5450" spc="-315" dirty="0">
                <a:solidFill>
                  <a:srgbClr val="000000"/>
                </a:solidFill>
              </a:rPr>
              <a:t> </a:t>
            </a:r>
            <a:r>
              <a:rPr sz="5450" spc="-125" dirty="0">
                <a:solidFill>
                  <a:srgbClr val="000000"/>
                </a:solidFill>
              </a:rPr>
              <a:t>de</a:t>
            </a:r>
            <a:r>
              <a:rPr sz="5450" spc="-254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votre</a:t>
            </a:r>
            <a:r>
              <a:rPr sz="5450" spc="-140" dirty="0">
                <a:solidFill>
                  <a:srgbClr val="000000"/>
                </a:solidFill>
              </a:rPr>
              <a:t> </a:t>
            </a:r>
            <a:r>
              <a:rPr sz="5450" spc="-10" dirty="0">
                <a:solidFill>
                  <a:srgbClr val="000000"/>
                </a:solidFill>
              </a:rPr>
              <a:t>attention.</a:t>
            </a:r>
            <a:endParaRPr sz="5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393</Words>
  <Application>Microsoft Office PowerPoint</Application>
  <PresentationFormat>Custom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MT</vt:lpstr>
      <vt:lpstr>Cambria</vt:lpstr>
      <vt:lpstr>Courier New</vt:lpstr>
      <vt:lpstr>Trebuchet MS</vt:lpstr>
      <vt:lpstr>Office Theme</vt:lpstr>
      <vt:lpstr>Système de Busïness Intelligence pour la Gestion RH</vt:lpstr>
      <vt:lpstr>Contexte et Problématique</vt:lpstr>
      <vt:lpstr>Méthodologie et Architecture Technique</vt:lpstr>
      <vt:lpstr>Analyse des Données : Indicateurs Clés de Performance (KPIs)</vt:lpstr>
      <vt:lpstr>Analyse Approfondie 1</vt:lpstr>
      <vt:lpstr>Analyse Approfondie 2 : Démographie Recrutement</vt:lpstr>
      <vt:lpstr>Recommandations Stratégiques (Business Value)</vt:lpstr>
      <vt:lpstr>Conclusion et Apports du Projet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 Green8</cp:lastModifiedBy>
  <cp:revision>11</cp:revision>
  <dcterms:created xsi:type="dcterms:W3CDTF">2026-01-16T15:21:21Z</dcterms:created>
  <dcterms:modified xsi:type="dcterms:W3CDTF">2026-01-16T15:44:02Z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LastSaved">
    <vt:filetime>2026-01-16T00:00:00Z</vt:filetime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2026-01-16T15:21:48Z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a4c8c577-6086-41ba-8c1f-381761186d09</vt:lpwstr>
  </property>
  <property fmtid="{D5CDD505-2E9C-101B-9397-08002B2CF9AE}" pid="9" name="MSIP_Label_defa4170-0d19-0005-0004-bc88714345d2_ActionId">
    <vt:lpwstr>6466f912-1aed-4e94-9caf-8cf3fa0eda62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10, 3, 0, 1</vt:lpwstr>
  </property>
</Properties>
</file>